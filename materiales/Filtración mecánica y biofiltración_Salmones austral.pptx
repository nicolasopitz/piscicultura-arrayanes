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2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2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2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2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44" y="376491"/>
            <a:ext cx="3862705" cy="562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2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0815" y="1497329"/>
            <a:ext cx="5151120" cy="432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41600"/>
            <a:ext cx="9144000" cy="4216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825" y="1837563"/>
            <a:ext cx="6294877" cy="6304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8307" y="2640012"/>
            <a:ext cx="5898515" cy="838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925">
              <a:lnSpc>
                <a:spcPts val="3560"/>
              </a:lnSpc>
              <a:spcBef>
                <a:spcPts val="100"/>
              </a:spcBef>
            </a:pPr>
            <a:r>
              <a:rPr dirty="0" sz="3000"/>
              <a:t>Filtración</a:t>
            </a:r>
            <a:r>
              <a:rPr dirty="0" sz="3000" spc="-100"/>
              <a:t> </a:t>
            </a:r>
            <a:r>
              <a:rPr dirty="0" sz="3000"/>
              <a:t>mecánica</a:t>
            </a:r>
            <a:r>
              <a:rPr dirty="0" sz="3000" spc="-95"/>
              <a:t> </a:t>
            </a:r>
            <a:r>
              <a:rPr dirty="0" sz="3000"/>
              <a:t>y</a:t>
            </a:r>
            <a:r>
              <a:rPr dirty="0" sz="3000" spc="-50"/>
              <a:t> </a:t>
            </a:r>
            <a:r>
              <a:rPr dirty="0" sz="3000" spc="-10"/>
              <a:t>biofiltración</a:t>
            </a:r>
            <a:endParaRPr sz="3000"/>
          </a:p>
          <a:p>
            <a:pPr marL="12700">
              <a:lnSpc>
                <a:spcPts val="2840"/>
              </a:lnSpc>
            </a:pPr>
            <a:r>
              <a:rPr dirty="0" sz="2400" b="0">
                <a:latin typeface="Calibri"/>
                <a:cs typeface="Calibri"/>
              </a:rPr>
              <a:t>Sistema</a:t>
            </a:r>
            <a:r>
              <a:rPr dirty="0" sz="2400" spc="-75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de</a:t>
            </a:r>
            <a:r>
              <a:rPr dirty="0" sz="2400" spc="-5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Recirculación</a:t>
            </a:r>
            <a:r>
              <a:rPr dirty="0" sz="2400" spc="-95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para</a:t>
            </a:r>
            <a:r>
              <a:rPr dirty="0" sz="2400" spc="-60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Acuicultura</a:t>
            </a:r>
            <a:r>
              <a:rPr dirty="0" sz="2400" spc="-8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(RAS)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51484" y="4915154"/>
            <a:ext cx="7981315" cy="143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7485" indent="-184785">
              <a:lnSpc>
                <a:spcPct val="100000"/>
              </a:lnSpc>
              <a:spcBef>
                <a:spcPts val="100"/>
              </a:spcBef>
              <a:buSzPct val="111111"/>
              <a:buChar char="•"/>
              <a:tabLst>
                <a:tab pos="19748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SS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afectan 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negativamente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sistema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RAS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y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los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peces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1455"/>
              </a:spcBef>
              <a:buChar char="•"/>
              <a:tabLst>
                <a:tab pos="17843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SS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son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generados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 por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presencia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heces,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bioflóculos</a:t>
            </a:r>
            <a:r>
              <a:rPr dirty="0" sz="1800" spc="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y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alimento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no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consumido.</a:t>
            </a:r>
            <a:endParaRPr sz="1800">
              <a:latin typeface="Calibri"/>
              <a:cs typeface="Calibri"/>
            </a:endParaRPr>
          </a:p>
          <a:p>
            <a:pPr marL="12700" marR="5080" indent="165100">
              <a:lnSpc>
                <a:spcPts val="2000"/>
              </a:lnSpc>
              <a:spcBef>
                <a:spcPts val="1345"/>
              </a:spcBef>
              <a:buChar char="•"/>
              <a:tabLst>
                <a:tab pos="177800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eliminación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estos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residuos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debe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ser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cuidadosa</a:t>
            </a:r>
            <a:r>
              <a:rPr dirty="0" sz="18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para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evitar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fragmentación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de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partículas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mayores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0055" y="265366"/>
            <a:ext cx="20612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45"/>
              <a:t> </a:t>
            </a:r>
            <a:r>
              <a:rPr dirty="0" spc="-10"/>
              <a:t>Mecánica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140" y="1557019"/>
            <a:ext cx="4119879" cy="3088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3120" y="1557019"/>
            <a:ext cx="4097020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45"/>
              <a:t> </a:t>
            </a:r>
            <a:r>
              <a:rPr dirty="0" spc="-10"/>
              <a:t>Mecánica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97572" y="1322641"/>
            <a:ext cx="3921125" cy="443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Como</a:t>
            </a:r>
            <a:r>
              <a:rPr dirty="0" sz="18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medimos</a:t>
            </a:r>
            <a:r>
              <a:rPr dirty="0" sz="18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los</a:t>
            </a:r>
            <a:r>
              <a:rPr dirty="0" sz="18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sólidos</a:t>
            </a:r>
            <a:r>
              <a:rPr dirty="0" sz="18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en</a:t>
            </a:r>
            <a:r>
              <a:rPr dirty="0" sz="1800" spc="-2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-1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agua?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800">
              <a:latin typeface="Calibri"/>
              <a:cs typeface="Calibri"/>
            </a:endParaRPr>
          </a:p>
          <a:p>
            <a:pPr marL="299720" indent="-287020">
              <a:lnSpc>
                <a:spcPts val="2080"/>
              </a:lnSpc>
              <a:buFont typeface="Arial MT"/>
              <a:buChar char="•"/>
              <a:tabLst>
                <a:tab pos="299720" algn="l"/>
              </a:tabLst>
            </a:pP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TSS</a:t>
            </a:r>
            <a:endParaRPr sz="1800">
              <a:latin typeface="Calibri"/>
              <a:cs typeface="Calibri"/>
            </a:endParaRPr>
          </a:p>
          <a:p>
            <a:pPr marL="299720" indent="-287020">
              <a:lnSpc>
                <a:spcPts val="2080"/>
              </a:lnSpc>
              <a:buFont typeface="Arial MT"/>
              <a:buChar char="•"/>
              <a:tabLst>
                <a:tab pos="299720" algn="l"/>
              </a:tabLst>
            </a:pP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Turbidez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del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agua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Como</a:t>
            </a:r>
            <a:r>
              <a:rPr dirty="0" sz="1800" spc="-5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afectan</a:t>
            </a:r>
            <a:r>
              <a:rPr dirty="0" sz="18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las</a:t>
            </a:r>
            <a:r>
              <a:rPr dirty="0" sz="1800" spc="-4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partículas</a:t>
            </a:r>
            <a:r>
              <a:rPr dirty="0" sz="1800" spc="-4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orgánicas?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800">
              <a:latin typeface="Calibri"/>
              <a:cs typeface="Calibri"/>
            </a:endParaRPr>
          </a:p>
          <a:p>
            <a:pPr marL="201930" indent="-167005">
              <a:lnSpc>
                <a:spcPts val="2080"/>
              </a:lnSpc>
              <a:buChar char="&gt;"/>
              <a:tabLst>
                <a:tab pos="201930" algn="l"/>
              </a:tabLst>
            </a:pP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Crecimiento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bacterias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heterótrofas</a:t>
            </a:r>
            <a:endParaRPr sz="1800">
              <a:latin typeface="Calibri"/>
              <a:cs typeface="Calibri"/>
            </a:endParaRPr>
          </a:p>
          <a:p>
            <a:pPr marL="201930" indent="-167005">
              <a:lnSpc>
                <a:spcPts val="2000"/>
              </a:lnSpc>
              <a:buChar char="&gt;"/>
              <a:tabLst>
                <a:tab pos="201930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Consumo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oxígeno</a:t>
            </a:r>
            <a:endParaRPr sz="1800">
              <a:latin typeface="Calibri"/>
              <a:cs typeface="Calibri"/>
            </a:endParaRPr>
          </a:p>
          <a:p>
            <a:pPr marL="201930" indent="-167005">
              <a:lnSpc>
                <a:spcPts val="2000"/>
              </a:lnSpc>
              <a:buChar char="&gt;"/>
              <a:tabLst>
                <a:tab pos="201930" algn="l"/>
              </a:tabLst>
            </a:pP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Producción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CO2</a:t>
            </a:r>
            <a:endParaRPr sz="1800">
              <a:latin typeface="Calibri"/>
              <a:cs typeface="Calibri"/>
            </a:endParaRPr>
          </a:p>
          <a:p>
            <a:pPr marL="202565" indent="-167640">
              <a:lnSpc>
                <a:spcPts val="2000"/>
              </a:lnSpc>
              <a:buChar char="&gt;"/>
              <a:tabLst>
                <a:tab pos="20256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Producción</a:t>
            </a:r>
            <a:r>
              <a:rPr dirty="0" sz="1800" spc="-6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NH3</a:t>
            </a:r>
            <a:endParaRPr sz="1800">
              <a:latin typeface="Calibri"/>
              <a:cs typeface="Calibri"/>
            </a:endParaRPr>
          </a:p>
          <a:p>
            <a:pPr marL="202565" indent="-167640">
              <a:lnSpc>
                <a:spcPts val="2000"/>
              </a:lnSpc>
              <a:buChar char="&gt;"/>
              <a:tabLst>
                <a:tab pos="20256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Estrés</a:t>
            </a:r>
            <a:r>
              <a:rPr dirty="0" sz="1800" spc="-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en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peces</a:t>
            </a:r>
            <a:endParaRPr sz="1800">
              <a:latin typeface="Calibri"/>
              <a:cs typeface="Calibri"/>
            </a:endParaRPr>
          </a:p>
          <a:p>
            <a:pPr marL="202565" indent="-167640">
              <a:lnSpc>
                <a:spcPts val="2080"/>
              </a:lnSpc>
              <a:buChar char="&gt;"/>
              <a:tabLst>
                <a:tab pos="20256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Protección</a:t>
            </a:r>
            <a:r>
              <a:rPr dirty="0" sz="1800" spc="-6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8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patógenos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</a:t>
            </a:r>
            <a:r>
              <a:rPr dirty="0" sz="1800" spc="-7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radiación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UV</a:t>
            </a:r>
            <a:endParaRPr sz="1800">
              <a:latin typeface="Calibri"/>
              <a:cs typeface="Calibri"/>
            </a:endParaRPr>
          </a:p>
          <a:p>
            <a:pPr marL="34925">
              <a:lnSpc>
                <a:spcPct val="100000"/>
              </a:lnSpc>
              <a:spcBef>
                <a:spcPts val="1225"/>
              </a:spcBef>
            </a:pPr>
            <a:r>
              <a:rPr dirty="0" sz="2400" b="1">
                <a:solidFill>
                  <a:srgbClr val="1F3863"/>
                </a:solidFill>
                <a:latin typeface="Calibri"/>
                <a:cs typeface="Calibri"/>
              </a:rPr>
              <a:t>&lt;</a:t>
            </a:r>
            <a:r>
              <a:rPr dirty="0" sz="2400" spc="-1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F3863"/>
                </a:solidFill>
                <a:latin typeface="Calibri"/>
                <a:cs typeface="Calibri"/>
              </a:rPr>
              <a:t>Nitrificación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45"/>
              <a:t> </a:t>
            </a:r>
            <a:r>
              <a:rPr dirty="0" spc="-10"/>
              <a:t>Mecánica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" y="1270000"/>
            <a:ext cx="6946900" cy="396494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88707" y="5366702"/>
            <a:ext cx="6452235" cy="53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Efecto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 del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aumento</a:t>
            </a:r>
            <a:r>
              <a:rPr dirty="0" sz="14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 proporción</a:t>
            </a:r>
            <a:r>
              <a:rPr dirty="0" sz="14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carbono/nitrógeno</a:t>
            </a:r>
            <a:r>
              <a:rPr dirty="0" sz="14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en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4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eficiencia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4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nitrificación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(Michaud</a:t>
            </a:r>
            <a:r>
              <a:rPr dirty="0" sz="14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et</a:t>
            </a:r>
            <a:r>
              <a:rPr dirty="0" sz="14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al.,</a:t>
            </a:r>
            <a:r>
              <a:rPr dirty="0" sz="14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F3863"/>
                </a:solidFill>
                <a:latin typeface="Calibri"/>
                <a:cs typeface="Calibri"/>
              </a:rPr>
              <a:t>2006)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298" rIns="0" bIns="0" rtlCol="0" vert="horz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60"/>
              <a:t> </a:t>
            </a:r>
            <a:r>
              <a:rPr dirty="0" spc="-10"/>
              <a:t>Mecánica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423409" y="2064448"/>
            <a:ext cx="4464685" cy="3870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0" indent="-182245">
              <a:lnSpc>
                <a:spcPts val="2090"/>
              </a:lnSpc>
              <a:spcBef>
                <a:spcPts val="100"/>
              </a:spcBef>
              <a:buClr>
                <a:srgbClr val="000000"/>
              </a:buClr>
              <a:buSzPct val="111111"/>
              <a:buChar char="•"/>
              <a:tabLst>
                <a:tab pos="285750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1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filtro</a:t>
            </a:r>
            <a:r>
              <a:rPr dirty="0" sz="1800" spc="114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rotatorio</a:t>
            </a:r>
            <a:r>
              <a:rPr dirty="0" sz="1800" spc="1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permite</a:t>
            </a:r>
            <a:r>
              <a:rPr dirty="0" sz="1800" spc="1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una</a:t>
            </a:r>
            <a:r>
              <a:rPr dirty="0" sz="1800" spc="1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adecuada</a:t>
            </a:r>
            <a:endParaRPr sz="1800">
              <a:latin typeface="Calibri"/>
              <a:cs typeface="Calibri"/>
            </a:endParaRPr>
          </a:p>
          <a:p>
            <a:pPr marL="103505">
              <a:lnSpc>
                <a:spcPts val="2090"/>
              </a:lnSpc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eliminación</a:t>
            </a:r>
            <a:r>
              <a:rPr dirty="0" sz="1800" spc="1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las</a:t>
            </a:r>
            <a:r>
              <a:rPr dirty="0" sz="1800" spc="-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partículas</a:t>
            </a:r>
            <a:r>
              <a:rPr dirty="0" sz="1800" spc="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sólidas.</a:t>
            </a:r>
            <a:endParaRPr sz="1800">
              <a:latin typeface="Calibri"/>
              <a:cs typeface="Calibri"/>
            </a:endParaRPr>
          </a:p>
          <a:p>
            <a:pPr marL="186055" indent="-167640">
              <a:lnSpc>
                <a:spcPts val="2080"/>
              </a:lnSpc>
              <a:spcBef>
                <a:spcPts val="1830"/>
              </a:spcBef>
              <a:buChar char="•"/>
              <a:tabLst>
                <a:tab pos="18605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-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rango</a:t>
            </a:r>
            <a:r>
              <a:rPr dirty="0" sz="1800" spc="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normal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filtración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es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40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  <a:p>
            <a:pPr marL="18415">
              <a:lnSpc>
                <a:spcPts val="2080"/>
              </a:lnSpc>
            </a:pP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µm</a:t>
            </a:r>
            <a:r>
              <a:rPr dirty="0" sz="1600" spc="-25">
                <a:solidFill>
                  <a:srgbClr val="1F3863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18415" marR="179705" indent="167640">
              <a:lnSpc>
                <a:spcPct val="83400"/>
              </a:lnSpc>
              <a:spcBef>
                <a:spcPts val="1939"/>
              </a:spcBef>
              <a:buClr>
                <a:srgbClr val="000000"/>
              </a:buClr>
              <a:buChar char="•"/>
              <a:tabLst>
                <a:tab pos="18605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9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agua</a:t>
            </a:r>
            <a:r>
              <a:rPr dirty="0" sz="1800" spc="1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fluye</a:t>
            </a:r>
            <a:r>
              <a:rPr dirty="0" sz="1800" spc="9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por</a:t>
            </a:r>
            <a:r>
              <a:rPr dirty="0" sz="1800" spc="114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gravedad</a:t>
            </a:r>
            <a:r>
              <a:rPr dirty="0" sz="1800" spc="114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hacia</a:t>
            </a:r>
            <a:r>
              <a:rPr dirty="0" sz="1800" spc="1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10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interior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y</a:t>
            </a:r>
            <a:r>
              <a:rPr dirty="0" sz="1800" spc="9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atraviesa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800" spc="30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estructura</a:t>
            </a:r>
            <a:r>
              <a:rPr dirty="0" sz="1800" spc="3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filtrante</a:t>
            </a:r>
            <a:r>
              <a:rPr dirty="0" sz="1800" spc="37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donde</a:t>
            </a:r>
            <a:r>
              <a:rPr dirty="0" sz="1800" spc="3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las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partículas</a:t>
            </a:r>
            <a:r>
              <a:rPr dirty="0" sz="1800" spc="39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sólidas</a:t>
            </a:r>
            <a:r>
              <a:rPr dirty="0" sz="1800" spc="38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son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cuidadosamente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separadas del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medio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líquido.</a:t>
            </a:r>
            <a:endParaRPr sz="1800">
              <a:latin typeface="Calibri"/>
              <a:cs typeface="Calibri"/>
            </a:endParaRPr>
          </a:p>
          <a:p>
            <a:pPr algn="just" marL="12700" marR="5080" indent="278130">
              <a:lnSpc>
                <a:spcPct val="83400"/>
              </a:lnSpc>
              <a:spcBef>
                <a:spcPts val="1955"/>
              </a:spcBef>
              <a:buChar char="•"/>
              <a:tabLst>
                <a:tab pos="290830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Una</a:t>
            </a:r>
            <a:r>
              <a:rPr dirty="0" sz="1800" spc="22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vez</a:t>
            </a:r>
            <a:r>
              <a:rPr dirty="0" sz="1800" spc="229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que</a:t>
            </a:r>
            <a:r>
              <a:rPr dirty="0" sz="1800" spc="23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220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tamiz</a:t>
            </a:r>
            <a:r>
              <a:rPr dirty="0" sz="1800" spc="22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se</a:t>
            </a:r>
            <a:r>
              <a:rPr dirty="0" sz="1800" spc="22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bloquea</a:t>
            </a:r>
            <a:r>
              <a:rPr dirty="0" sz="1800" spc="229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con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partículas,</a:t>
            </a:r>
            <a:r>
              <a:rPr dirty="0" sz="1800" spc="3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3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nivel</a:t>
            </a:r>
            <a:r>
              <a:rPr dirty="0" sz="1800" spc="3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del</a:t>
            </a:r>
            <a:r>
              <a:rPr dirty="0" sz="1800" spc="3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agua</a:t>
            </a:r>
            <a:r>
              <a:rPr dirty="0" sz="1800" spc="3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al</a:t>
            </a:r>
            <a:r>
              <a:rPr dirty="0" sz="1800" spc="3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interior</a:t>
            </a:r>
            <a:r>
              <a:rPr dirty="0" sz="1800" spc="3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3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los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filtros</a:t>
            </a:r>
            <a:r>
              <a:rPr dirty="0" sz="1800" spc="350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aumenta,</a:t>
            </a:r>
            <a:r>
              <a:rPr dirty="0" sz="1800" spc="34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activando</a:t>
            </a:r>
            <a:r>
              <a:rPr dirty="0" sz="1800" spc="350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800" spc="340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sistema</a:t>
            </a:r>
            <a:r>
              <a:rPr dirty="0" sz="1800" spc="355">
                <a:solidFill>
                  <a:srgbClr val="1F3863"/>
                </a:solidFill>
                <a:latin typeface="Calibri"/>
                <a:cs typeface="Calibri"/>
              </a:rPr>
              <a:t> 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de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retrolavado</a:t>
            </a:r>
            <a:r>
              <a:rPr dirty="0" sz="1800" spc="29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donde</a:t>
            </a:r>
            <a:r>
              <a:rPr dirty="0" sz="1800" spc="30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los</a:t>
            </a:r>
            <a:r>
              <a:rPr dirty="0" sz="1800" spc="3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sólidos</a:t>
            </a:r>
            <a:r>
              <a:rPr dirty="0" sz="1800" spc="30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son</a:t>
            </a:r>
            <a:r>
              <a:rPr dirty="0" sz="1800" spc="3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retirados</a:t>
            </a:r>
            <a:r>
              <a:rPr dirty="0" sz="1800" spc="29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y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concentrados</a:t>
            </a:r>
            <a:r>
              <a:rPr dirty="0" sz="1800" spc="6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en</a:t>
            </a:r>
            <a:r>
              <a:rPr dirty="0" sz="1800" spc="-7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una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bandeja</a:t>
            </a:r>
            <a:r>
              <a:rPr dirty="0" sz="1800" spc="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colectora.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59" y="2133600"/>
            <a:ext cx="43916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739" y="6640512"/>
            <a:ext cx="72269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Calibri"/>
                <a:cs typeface="Calibri"/>
              </a:rPr>
              <a:t>2006,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Orellana.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Identification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quantification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suspended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solids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their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effects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modern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marine recirculation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systems.</a:t>
            </a:r>
            <a:r>
              <a:rPr dirty="0" sz="1000" spc="-114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Dissertation.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45"/>
              <a:t> </a:t>
            </a:r>
            <a:r>
              <a:rPr dirty="0" spc="-10"/>
              <a:t>Mecánica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559" y="952500"/>
            <a:ext cx="760222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298" rIns="0" bIns="0" rtlCol="0" vert="horz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Filtración</a:t>
            </a:r>
            <a:r>
              <a:rPr dirty="0" spc="-60"/>
              <a:t> </a:t>
            </a:r>
            <a:r>
              <a:rPr dirty="0" spc="-10"/>
              <a:t>Mecánica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Objetivos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remoción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sólidos</a:t>
            </a:r>
          </a:p>
          <a:p>
            <a:pPr>
              <a:lnSpc>
                <a:spcPct val="100000"/>
              </a:lnSpc>
              <a:spcBef>
                <a:spcPts val="1805"/>
              </a:spcBef>
            </a:pPr>
          </a:p>
          <a:p>
            <a:pPr marL="190500" indent="-167640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dirty="0" sz="1800" spc="-10" b="0">
                <a:latin typeface="Calibri"/>
                <a:cs typeface="Calibri"/>
              </a:rPr>
              <a:t>Disminución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5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turbidez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del</a:t>
            </a:r>
            <a:r>
              <a:rPr dirty="0" sz="1800" spc="-5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agua</a:t>
            </a:r>
            <a:r>
              <a:rPr dirty="0" sz="2000" spc="-10" b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F3863"/>
              </a:buClr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91135" indent="-168275">
              <a:lnSpc>
                <a:spcPct val="100000"/>
              </a:lnSpc>
              <a:buChar char="•"/>
              <a:tabLst>
                <a:tab pos="191135" algn="l"/>
              </a:tabLst>
            </a:pPr>
            <a:r>
              <a:rPr dirty="0" sz="1800" spc="-10" b="0">
                <a:latin typeface="Calibri"/>
                <a:cs typeface="Calibri"/>
              </a:rPr>
              <a:t>Reducción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carga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orgánica</a:t>
            </a:r>
            <a:r>
              <a:rPr dirty="0" sz="1800" b="0">
                <a:latin typeface="Calibri"/>
                <a:cs typeface="Calibri"/>
              </a:rPr>
              <a:t> en</a:t>
            </a:r>
            <a:r>
              <a:rPr dirty="0" sz="1800" spc="-4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el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biofiltro.</a:t>
            </a:r>
            <a:endParaRPr sz="1800">
              <a:latin typeface="Calibri"/>
              <a:cs typeface="Calibri"/>
            </a:endParaRPr>
          </a:p>
          <a:p>
            <a:pPr marL="22860" marR="508634" indent="167640">
              <a:lnSpc>
                <a:spcPct val="220500"/>
              </a:lnSpc>
              <a:spcBef>
                <a:spcPts val="60"/>
              </a:spcBef>
              <a:buChar char="•"/>
              <a:tabLst>
                <a:tab pos="190500" algn="l"/>
              </a:tabLst>
            </a:pPr>
            <a:r>
              <a:rPr dirty="0" sz="1800" spc="-10" b="0">
                <a:latin typeface="Calibri"/>
                <a:cs typeface="Calibri"/>
              </a:rPr>
              <a:t>Reducción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presencia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larvas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y</a:t>
            </a:r>
            <a:r>
              <a:rPr dirty="0" sz="1800" spc="-5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huevos </a:t>
            </a:r>
            <a:r>
              <a:rPr dirty="0" sz="1800" spc="-25" b="0">
                <a:latin typeface="Calibri"/>
                <a:cs typeface="Calibri"/>
              </a:rPr>
              <a:t>de </a:t>
            </a:r>
            <a:r>
              <a:rPr dirty="0" sz="1800" b="0">
                <a:latin typeface="Calibri"/>
                <a:cs typeface="Calibri"/>
              </a:rPr>
              <a:t>algunos</a:t>
            </a:r>
            <a:r>
              <a:rPr dirty="0" sz="1800" spc="-5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parásitos.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F3863"/>
              </a:buClr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91135" indent="-168275">
              <a:lnSpc>
                <a:spcPct val="100000"/>
              </a:lnSpc>
              <a:buChar char="•"/>
              <a:tabLst>
                <a:tab pos="191135" algn="l"/>
              </a:tabLst>
            </a:pPr>
            <a:r>
              <a:rPr dirty="0" sz="1800" spc="-20" b="0">
                <a:latin typeface="Calibri"/>
                <a:cs typeface="Calibri"/>
              </a:rPr>
              <a:t>Mejoramiento</a:t>
            </a:r>
            <a:r>
              <a:rPr dirty="0" sz="1800" spc="-6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las</a:t>
            </a:r>
            <a:r>
              <a:rPr dirty="0" sz="1800" spc="-4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condiciones</a:t>
            </a:r>
            <a:r>
              <a:rPr dirty="0" sz="1800" spc="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para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</a:t>
            </a:r>
            <a:r>
              <a:rPr dirty="0" sz="1800" spc="-4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nitrificación.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1F3863"/>
              </a:buClr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90500" indent="-167640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dirty="0" sz="1800" spc="-10" b="0">
                <a:latin typeface="Calibri"/>
                <a:cs typeface="Calibri"/>
              </a:rPr>
              <a:t>Mejoramiento</a:t>
            </a:r>
            <a:r>
              <a:rPr dirty="0" sz="1800" spc="-6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del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proceso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filtración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spc="-25" b="0">
                <a:latin typeface="Calibri"/>
                <a:cs typeface="Calibri"/>
              </a:rPr>
              <a:t>UV.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960" y="1724660"/>
            <a:ext cx="3126740" cy="23774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579" y="4191000"/>
            <a:ext cx="2854960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7380" y="463867"/>
            <a:ext cx="205358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Filtración</a:t>
            </a:r>
            <a:r>
              <a:rPr dirty="0" spc="-90"/>
              <a:t> </a:t>
            </a:r>
            <a:r>
              <a:rPr dirty="0" spc="-10"/>
              <a:t>mecánica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29565" y="762948"/>
            <a:ext cx="8487410" cy="3333750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algn="ctr" marR="421005">
              <a:lnSpc>
                <a:spcPct val="100000"/>
              </a:lnSpc>
              <a:spcBef>
                <a:spcPts val="1235"/>
              </a:spcBef>
            </a:pP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DBO</a:t>
            </a:r>
            <a:r>
              <a:rPr dirty="0" sz="2000" spc="-35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y</a:t>
            </a:r>
            <a:r>
              <a:rPr dirty="0" sz="2000" spc="-30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001279"/>
                </a:solidFill>
                <a:latin typeface="Calibri"/>
                <a:cs typeface="Calibri"/>
              </a:rPr>
              <a:t>DQO</a:t>
            </a:r>
            <a:endParaRPr sz="2000">
              <a:latin typeface="Calibri"/>
              <a:cs typeface="Calibri"/>
            </a:endParaRPr>
          </a:p>
          <a:p>
            <a:pPr algn="just" marL="12700" marR="7620" indent="127000">
              <a:lnSpc>
                <a:spcPct val="100000"/>
              </a:lnSpc>
              <a:spcBef>
                <a:spcPts val="1025"/>
              </a:spcBef>
              <a:buSzPct val="88888"/>
              <a:buFont typeface="Arial MT"/>
              <a:buChar char="•"/>
              <a:tabLst>
                <a:tab pos="139700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Demanda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bioquímica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7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(DBO)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una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medida</a:t>
            </a:r>
            <a:r>
              <a:rPr dirty="0" sz="1800" spc="4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oxígeno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utilizado</a:t>
            </a:r>
            <a:r>
              <a:rPr dirty="0" sz="1800" spc="1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dirty="0" sz="1800" spc="1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las</a:t>
            </a:r>
            <a:r>
              <a:rPr dirty="0" sz="1800" spc="1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bacterias</a:t>
            </a:r>
            <a:r>
              <a:rPr dirty="0" sz="1800" spc="1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aeróbicas</a:t>
            </a:r>
            <a:r>
              <a:rPr dirty="0" sz="1800" spc="114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durante</a:t>
            </a:r>
            <a:r>
              <a:rPr dirty="0" sz="1800" spc="1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1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degradación</a:t>
            </a:r>
            <a:r>
              <a:rPr dirty="0" sz="1800" spc="1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1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los</a:t>
            </a:r>
            <a:r>
              <a:rPr dirty="0" sz="1800" spc="1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compuestos</a:t>
            </a:r>
            <a:r>
              <a:rPr dirty="0" sz="1800" spc="1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orgánicos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agua.</a:t>
            </a:r>
            <a:endParaRPr sz="1800">
              <a:latin typeface="Calibri"/>
              <a:cs typeface="Calibri"/>
            </a:endParaRPr>
          </a:p>
          <a:p>
            <a:pPr algn="just" marL="12700" marR="7620" indent="12890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141605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Cuando</a:t>
            </a:r>
            <a:r>
              <a:rPr dirty="0" sz="1800" spc="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los</a:t>
            </a:r>
            <a:r>
              <a:rPr dirty="0" sz="1800" spc="8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niveles</a:t>
            </a:r>
            <a:r>
              <a:rPr dirty="0" sz="1800" spc="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8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DBO</a:t>
            </a:r>
            <a:r>
              <a:rPr dirty="0" sz="1800" spc="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son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altos,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nivel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10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dirty="0" sz="1800" spc="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agua</a:t>
            </a:r>
            <a:r>
              <a:rPr dirty="0" sz="1800" spc="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disminuye</a:t>
            </a:r>
            <a:r>
              <a:rPr dirty="0" sz="1800" spc="8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dirty="0" sz="1800" spc="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medida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que es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consumido</a:t>
            </a:r>
            <a:r>
              <a:rPr dirty="0" sz="1800" spc="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dirty="0"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las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bacterias.</a:t>
            </a:r>
            <a:endParaRPr sz="18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Dado</a:t>
            </a:r>
            <a:r>
              <a:rPr dirty="0" sz="1800" spc="1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que</a:t>
            </a:r>
            <a:r>
              <a:rPr dirty="0" sz="1800" spc="1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solo</a:t>
            </a:r>
            <a:r>
              <a:rPr dirty="0" sz="1800" spc="1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una</a:t>
            </a:r>
            <a:r>
              <a:rPr dirty="0" sz="1800" spc="1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dirty="0" sz="1800" spc="1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reducida</a:t>
            </a:r>
            <a:r>
              <a:rPr dirty="0" sz="1800" spc="1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1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1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está</a:t>
            </a:r>
            <a:r>
              <a:rPr dirty="0" sz="1800" spc="1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disponible</a:t>
            </a:r>
            <a:r>
              <a:rPr dirty="0" sz="1800" spc="1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dirty="0" sz="1800" spc="1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1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agua,</a:t>
            </a:r>
            <a:r>
              <a:rPr dirty="0" sz="1800" spc="1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esto</a:t>
            </a:r>
            <a:r>
              <a:rPr dirty="0" sz="1800" spc="1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puede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causar</a:t>
            </a:r>
            <a:r>
              <a:rPr dirty="0" sz="1800" spc="1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problemas</a:t>
            </a:r>
            <a:r>
              <a:rPr dirty="0" sz="1800" spc="1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para</a:t>
            </a:r>
            <a:r>
              <a:rPr dirty="0" sz="1800" spc="1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lograr</a:t>
            </a:r>
            <a:r>
              <a:rPr dirty="0" sz="1800" spc="1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1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concentración</a:t>
            </a:r>
            <a:r>
              <a:rPr dirty="0" sz="1800" spc="18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18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1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requerida</a:t>
            </a:r>
            <a:r>
              <a:rPr dirty="0" sz="1800" spc="1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dirty="0" sz="1800" spc="1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los</a:t>
            </a:r>
            <a:r>
              <a:rPr dirty="0" sz="1800" spc="1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peces</a:t>
            </a:r>
            <a:r>
              <a:rPr dirty="0" sz="1800" spc="1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dirty="0" sz="1800" spc="1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el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sistema.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9565" y="6159817"/>
            <a:ext cx="4244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 indent="-1314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4414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Niveles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normales</a:t>
            </a:r>
            <a:r>
              <a:rPr dirty="0" sz="1800" spc="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en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RAS: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1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dirty="0" sz="18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20</a:t>
            </a:r>
            <a:r>
              <a:rPr dirty="0" sz="1800" spc="36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mg/L</a:t>
            </a:r>
            <a:r>
              <a:rPr dirty="0" sz="1800" spc="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DBO.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0480" y="3992879"/>
            <a:ext cx="654304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Filtración</a:t>
            </a:r>
            <a:r>
              <a:rPr dirty="0" spc="-90"/>
              <a:t> </a:t>
            </a:r>
            <a:r>
              <a:rPr dirty="0" spc="-10"/>
              <a:t>mecánica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16229" y="1184528"/>
            <a:ext cx="8485505" cy="483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191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DBO</a:t>
            </a:r>
            <a:r>
              <a:rPr dirty="0" sz="2000" spc="-30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y</a:t>
            </a:r>
            <a:r>
              <a:rPr dirty="0" sz="2000" spc="-30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001279"/>
                </a:solidFill>
                <a:latin typeface="Calibri"/>
                <a:cs typeface="Calibri"/>
              </a:rPr>
              <a:t>DQO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Calibri"/>
              <a:cs typeface="Calibri"/>
            </a:endParaRPr>
          </a:p>
          <a:p>
            <a:pPr algn="just" marL="12700" marR="5080" indent="142240">
              <a:lnSpc>
                <a:spcPct val="99600"/>
              </a:lnSpc>
              <a:buClr>
                <a:srgbClr val="000000"/>
              </a:buClr>
              <a:buFont typeface="Arial MT"/>
              <a:buChar char="•"/>
              <a:tabLst>
                <a:tab pos="154940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Demanda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química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(DQO)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medida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capacidad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agua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para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consumir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oxígeno</a:t>
            </a:r>
            <a:r>
              <a:rPr dirty="0" sz="1800" spc="7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durante</a:t>
            </a:r>
            <a:r>
              <a:rPr dirty="0" sz="1800" spc="8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degradación</a:t>
            </a:r>
            <a:r>
              <a:rPr dirty="0" sz="1800" spc="8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7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materia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orgánica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y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7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oxidación</a:t>
            </a:r>
            <a:r>
              <a:rPr dirty="0" sz="1800" spc="8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de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compuestos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inorganicos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como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amonio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nitrito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12700" marR="5715" indent="217170">
              <a:lnSpc>
                <a:spcPct val="100000"/>
              </a:lnSpc>
              <a:buChar char="•"/>
              <a:tabLst>
                <a:tab pos="229870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2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DQO</a:t>
            </a:r>
            <a:r>
              <a:rPr dirty="0" sz="1800" spc="2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siempre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más</a:t>
            </a:r>
            <a:r>
              <a:rPr dirty="0" sz="1800" spc="254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alta</a:t>
            </a:r>
            <a:r>
              <a:rPr dirty="0" sz="1800" spc="229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(doble,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aprox.)</a:t>
            </a:r>
            <a:r>
              <a:rPr dirty="0" sz="1800" spc="2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que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2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DBO,</a:t>
            </a:r>
            <a:r>
              <a:rPr dirty="0" sz="1800" spc="2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ya</a:t>
            </a:r>
            <a:r>
              <a:rPr dirty="0" sz="1800" spc="229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que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254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DQO</a:t>
            </a:r>
            <a:r>
              <a:rPr dirty="0" sz="1800" spc="2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considera</a:t>
            </a:r>
            <a:r>
              <a:rPr dirty="0" sz="1800" spc="2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la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oxidación</a:t>
            </a:r>
            <a:r>
              <a:rPr dirty="0" sz="1800" spc="3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3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compuestos</a:t>
            </a:r>
            <a:r>
              <a:rPr dirty="0" sz="1800" spc="39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que</a:t>
            </a:r>
            <a:r>
              <a:rPr dirty="0" sz="1800" spc="3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no</a:t>
            </a:r>
            <a:r>
              <a:rPr dirty="0" sz="1800" spc="36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están</a:t>
            </a:r>
            <a:r>
              <a:rPr dirty="0" sz="1800" spc="38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disponibles</a:t>
            </a:r>
            <a:r>
              <a:rPr dirty="0" sz="1800" spc="39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inmediatamente</a:t>
            </a:r>
            <a:r>
              <a:rPr dirty="0" sz="1800" spc="40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para</a:t>
            </a:r>
            <a:r>
              <a:rPr dirty="0" sz="1800" spc="37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37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consumo bacteriano.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126364" indent="-123825">
              <a:lnSpc>
                <a:spcPct val="100000"/>
              </a:lnSpc>
              <a:spcBef>
                <a:spcPts val="5"/>
              </a:spcBef>
              <a:buSzPct val="91666"/>
              <a:buChar char="•"/>
              <a:tabLst>
                <a:tab pos="126364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Alrededor</a:t>
            </a:r>
            <a:r>
              <a:rPr dirty="0" sz="1800" spc="4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50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%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DBO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se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eliminará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un</a:t>
            </a:r>
            <a:r>
              <a:rPr dirty="0" sz="1800" spc="5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sistema</a:t>
            </a:r>
            <a:r>
              <a:rPr dirty="0" sz="1800" spc="6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dirty="0" sz="1800" spc="60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filtración</a:t>
            </a:r>
            <a:r>
              <a:rPr dirty="0" sz="1800" spc="55">
                <a:solidFill>
                  <a:srgbClr val="001F5F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mecánica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correctamente</a:t>
            </a:r>
            <a:r>
              <a:rPr dirty="0"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dimensionado.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1800">
              <a:latin typeface="Calibri"/>
              <a:cs typeface="Calibri"/>
            </a:endParaRPr>
          </a:p>
          <a:p>
            <a:pPr algn="just" marL="180975" indent="-168275">
              <a:lnSpc>
                <a:spcPct val="100000"/>
              </a:lnSpc>
              <a:buChar char="•"/>
              <a:tabLst>
                <a:tab pos="180975" algn="l"/>
              </a:tabLst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remanente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se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disolverá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y,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</a:t>
            </a:r>
            <a:r>
              <a:rPr dirty="0" sz="1800" spc="-6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tanto,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será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absorbido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y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digerido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los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Biofiltros.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30420" cy="6858000"/>
            <a:chOff x="0" y="0"/>
            <a:chExt cx="463042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4630420" cy="6858000"/>
            </a:xfrm>
            <a:custGeom>
              <a:avLst/>
              <a:gdLst/>
              <a:ahLst/>
              <a:cxnLst/>
              <a:rect l="l" t="t" r="r" b="b"/>
              <a:pathLst>
                <a:path w="4630420" h="6858000">
                  <a:moveTo>
                    <a:pt x="457860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074037" y="6857999"/>
                  </a:lnTo>
                  <a:lnTo>
                    <a:pt x="2172843" y="6782205"/>
                  </a:lnTo>
                  <a:lnTo>
                    <a:pt x="2205995" y="6755122"/>
                  </a:lnTo>
                  <a:lnTo>
                    <a:pt x="2238981" y="6727713"/>
                  </a:lnTo>
                  <a:lnTo>
                    <a:pt x="2271798" y="6699980"/>
                  </a:lnTo>
                  <a:lnTo>
                    <a:pt x="2304445" y="6671924"/>
                  </a:lnTo>
                  <a:lnTo>
                    <a:pt x="2336921" y="6643546"/>
                  </a:lnTo>
                  <a:lnTo>
                    <a:pt x="2369225" y="6614850"/>
                  </a:lnTo>
                  <a:lnTo>
                    <a:pt x="2401355" y="6585836"/>
                  </a:lnTo>
                  <a:lnTo>
                    <a:pt x="2433310" y="6556506"/>
                  </a:lnTo>
                  <a:lnTo>
                    <a:pt x="2465090" y="6526861"/>
                  </a:lnTo>
                  <a:lnTo>
                    <a:pt x="2496692" y="6496904"/>
                  </a:lnTo>
                  <a:lnTo>
                    <a:pt x="2528115" y="6466636"/>
                  </a:lnTo>
                  <a:lnTo>
                    <a:pt x="2559359" y="6436058"/>
                  </a:lnTo>
                  <a:lnTo>
                    <a:pt x="2590421" y="6405173"/>
                  </a:lnTo>
                  <a:lnTo>
                    <a:pt x="2621301" y="6373983"/>
                  </a:lnTo>
                  <a:lnTo>
                    <a:pt x="2651998" y="6342487"/>
                  </a:lnTo>
                  <a:lnTo>
                    <a:pt x="2682509" y="6310690"/>
                  </a:lnTo>
                  <a:lnTo>
                    <a:pt x="2712834" y="6278591"/>
                  </a:lnTo>
                  <a:lnTo>
                    <a:pt x="2742972" y="6246194"/>
                  </a:lnTo>
                  <a:lnTo>
                    <a:pt x="2772922" y="6213498"/>
                  </a:lnTo>
                  <a:lnTo>
                    <a:pt x="2802681" y="6180507"/>
                  </a:lnTo>
                  <a:lnTo>
                    <a:pt x="2832249" y="6147222"/>
                  </a:lnTo>
                  <a:lnTo>
                    <a:pt x="2861624" y="6113645"/>
                  </a:lnTo>
                  <a:lnTo>
                    <a:pt x="2890806" y="6079777"/>
                  </a:lnTo>
                  <a:lnTo>
                    <a:pt x="2919793" y="6045619"/>
                  </a:lnTo>
                  <a:lnTo>
                    <a:pt x="2948584" y="6011174"/>
                  </a:lnTo>
                  <a:lnTo>
                    <a:pt x="2977177" y="5976444"/>
                  </a:lnTo>
                  <a:lnTo>
                    <a:pt x="3005571" y="5941429"/>
                  </a:lnTo>
                  <a:lnTo>
                    <a:pt x="3033765" y="5906133"/>
                  </a:lnTo>
                  <a:lnTo>
                    <a:pt x="3061758" y="5870555"/>
                  </a:lnTo>
                  <a:lnTo>
                    <a:pt x="3089548" y="5834699"/>
                  </a:lnTo>
                  <a:lnTo>
                    <a:pt x="3117135" y="5798565"/>
                  </a:lnTo>
                  <a:lnTo>
                    <a:pt x="3144516" y="5762155"/>
                  </a:lnTo>
                  <a:lnTo>
                    <a:pt x="3171691" y="5725472"/>
                  </a:lnTo>
                  <a:lnTo>
                    <a:pt x="3198659" y="5688517"/>
                  </a:lnTo>
                  <a:lnTo>
                    <a:pt x="3225417" y="5651290"/>
                  </a:lnTo>
                  <a:lnTo>
                    <a:pt x="3251966" y="5613795"/>
                  </a:lnTo>
                  <a:lnTo>
                    <a:pt x="3278303" y="5576033"/>
                  </a:lnTo>
                  <a:lnTo>
                    <a:pt x="3304427" y="5538005"/>
                  </a:lnTo>
                  <a:lnTo>
                    <a:pt x="3330337" y="5499714"/>
                  </a:lnTo>
                  <a:lnTo>
                    <a:pt x="3356033" y="5461160"/>
                  </a:lnTo>
                  <a:lnTo>
                    <a:pt x="3381511" y="5422346"/>
                  </a:lnTo>
                  <a:lnTo>
                    <a:pt x="3406772" y="5383273"/>
                  </a:lnTo>
                  <a:lnTo>
                    <a:pt x="3431814" y="5343943"/>
                  </a:lnTo>
                  <a:lnTo>
                    <a:pt x="3456636" y="5304358"/>
                  </a:lnTo>
                  <a:lnTo>
                    <a:pt x="3481236" y="5264518"/>
                  </a:lnTo>
                  <a:lnTo>
                    <a:pt x="3505614" y="5224427"/>
                  </a:lnTo>
                  <a:lnTo>
                    <a:pt x="3529768" y="5184086"/>
                  </a:lnTo>
                  <a:lnTo>
                    <a:pt x="3553696" y="5143495"/>
                  </a:lnTo>
                  <a:lnTo>
                    <a:pt x="3577397" y="5102658"/>
                  </a:lnTo>
                  <a:lnTo>
                    <a:pt x="3600871" y="5061576"/>
                  </a:lnTo>
                  <a:lnTo>
                    <a:pt x="3624116" y="5020249"/>
                  </a:lnTo>
                  <a:lnTo>
                    <a:pt x="3647131" y="4978681"/>
                  </a:lnTo>
                  <a:lnTo>
                    <a:pt x="3669913" y="4936873"/>
                  </a:lnTo>
                  <a:lnTo>
                    <a:pt x="3692463" y="4894826"/>
                  </a:lnTo>
                  <a:lnTo>
                    <a:pt x="3714779" y="4852542"/>
                  </a:lnTo>
                  <a:lnTo>
                    <a:pt x="3736860" y="4810023"/>
                  </a:lnTo>
                  <a:lnTo>
                    <a:pt x="3758704" y="4767270"/>
                  </a:lnTo>
                  <a:lnTo>
                    <a:pt x="3780310" y="4724285"/>
                  </a:lnTo>
                  <a:lnTo>
                    <a:pt x="3801676" y="4681071"/>
                  </a:lnTo>
                  <a:lnTo>
                    <a:pt x="3822803" y="4637628"/>
                  </a:lnTo>
                  <a:lnTo>
                    <a:pt x="3843688" y="4593958"/>
                  </a:lnTo>
                  <a:lnTo>
                    <a:pt x="3864329" y="4550062"/>
                  </a:lnTo>
                  <a:lnTo>
                    <a:pt x="3884727" y="4505944"/>
                  </a:lnTo>
                  <a:lnTo>
                    <a:pt x="3904879" y="4461604"/>
                  </a:lnTo>
                  <a:lnTo>
                    <a:pt x="3924784" y="4417043"/>
                  </a:lnTo>
                  <a:lnTo>
                    <a:pt x="3944441" y="4372265"/>
                  </a:lnTo>
                  <a:lnTo>
                    <a:pt x="3963849" y="4327269"/>
                  </a:lnTo>
                  <a:lnTo>
                    <a:pt x="3983007" y="4282059"/>
                  </a:lnTo>
                  <a:lnTo>
                    <a:pt x="4001913" y="4236635"/>
                  </a:lnTo>
                  <a:lnTo>
                    <a:pt x="4020565" y="4190999"/>
                  </a:lnTo>
                  <a:lnTo>
                    <a:pt x="4038964" y="4145154"/>
                  </a:lnTo>
                  <a:lnTo>
                    <a:pt x="4057106" y="4099100"/>
                  </a:lnTo>
                  <a:lnTo>
                    <a:pt x="4074992" y="4052840"/>
                  </a:lnTo>
                  <a:lnTo>
                    <a:pt x="4092620" y="4006375"/>
                  </a:lnTo>
                  <a:lnTo>
                    <a:pt x="4109989" y="3959706"/>
                  </a:lnTo>
                  <a:lnTo>
                    <a:pt x="4127097" y="3912836"/>
                  </a:lnTo>
                  <a:lnTo>
                    <a:pt x="4143943" y="3865766"/>
                  </a:lnTo>
                  <a:lnTo>
                    <a:pt x="4160526" y="3818498"/>
                  </a:lnTo>
                  <a:lnTo>
                    <a:pt x="4176844" y="3771033"/>
                  </a:lnTo>
                  <a:lnTo>
                    <a:pt x="4192897" y="3723374"/>
                  </a:lnTo>
                  <a:lnTo>
                    <a:pt x="4208683" y="3675521"/>
                  </a:lnTo>
                  <a:lnTo>
                    <a:pt x="4224200" y="3627477"/>
                  </a:lnTo>
                  <a:lnTo>
                    <a:pt x="4239449" y="3579244"/>
                  </a:lnTo>
                  <a:lnTo>
                    <a:pt x="4254426" y="3530822"/>
                  </a:lnTo>
                  <a:lnTo>
                    <a:pt x="4269132" y="3482213"/>
                  </a:lnTo>
                  <a:lnTo>
                    <a:pt x="4283564" y="3433420"/>
                  </a:lnTo>
                  <a:lnTo>
                    <a:pt x="4297722" y="3384444"/>
                  </a:lnTo>
                  <a:lnTo>
                    <a:pt x="4311604" y="3335287"/>
                  </a:lnTo>
                  <a:lnTo>
                    <a:pt x="4325209" y="3285950"/>
                  </a:lnTo>
                  <a:lnTo>
                    <a:pt x="4338535" y="3236435"/>
                  </a:lnTo>
                  <a:lnTo>
                    <a:pt x="4351583" y="3186743"/>
                  </a:lnTo>
                  <a:lnTo>
                    <a:pt x="4364349" y="3136877"/>
                  </a:lnTo>
                  <a:lnTo>
                    <a:pt x="4376833" y="3086838"/>
                  </a:lnTo>
                  <a:lnTo>
                    <a:pt x="4389034" y="3036628"/>
                  </a:lnTo>
                  <a:lnTo>
                    <a:pt x="4400951" y="2986248"/>
                  </a:lnTo>
                  <a:lnTo>
                    <a:pt x="4412581" y="2935700"/>
                  </a:lnTo>
                  <a:lnTo>
                    <a:pt x="4423924" y="2884986"/>
                  </a:lnTo>
                  <a:lnTo>
                    <a:pt x="4434979" y="2834108"/>
                  </a:lnTo>
                  <a:lnTo>
                    <a:pt x="4445745" y="2783067"/>
                  </a:lnTo>
                  <a:lnTo>
                    <a:pt x="4456219" y="2731864"/>
                  </a:lnTo>
                  <a:lnTo>
                    <a:pt x="4466402" y="2680502"/>
                  </a:lnTo>
                  <a:lnTo>
                    <a:pt x="4476290" y="2628983"/>
                  </a:lnTo>
                  <a:lnTo>
                    <a:pt x="4485885" y="2577307"/>
                  </a:lnTo>
                  <a:lnTo>
                    <a:pt x="4495183" y="2525476"/>
                  </a:lnTo>
                  <a:lnTo>
                    <a:pt x="4504184" y="2473493"/>
                  </a:lnTo>
                  <a:lnTo>
                    <a:pt x="4512886" y="2421359"/>
                  </a:lnTo>
                  <a:lnTo>
                    <a:pt x="4521289" y="2369076"/>
                  </a:lnTo>
                  <a:lnTo>
                    <a:pt x="4529391" y="2316645"/>
                  </a:lnTo>
                  <a:lnTo>
                    <a:pt x="4537190" y="2264067"/>
                  </a:lnTo>
                  <a:lnTo>
                    <a:pt x="4544686" y="2211346"/>
                  </a:lnTo>
                  <a:lnTo>
                    <a:pt x="4551878" y="2158482"/>
                  </a:lnTo>
                  <a:lnTo>
                    <a:pt x="4558763" y="2105477"/>
                  </a:lnTo>
                  <a:lnTo>
                    <a:pt x="4565341" y="2052332"/>
                  </a:lnTo>
                  <a:lnTo>
                    <a:pt x="4571610" y="1999050"/>
                  </a:lnTo>
                  <a:lnTo>
                    <a:pt x="4577569" y="1945632"/>
                  </a:lnTo>
                  <a:lnTo>
                    <a:pt x="4583218" y="1892080"/>
                  </a:lnTo>
                  <a:lnTo>
                    <a:pt x="4588554" y="1838395"/>
                  </a:lnTo>
                  <a:lnTo>
                    <a:pt x="4593576" y="1784580"/>
                  </a:lnTo>
                  <a:lnTo>
                    <a:pt x="4598284" y="1730635"/>
                  </a:lnTo>
                  <a:lnTo>
                    <a:pt x="4602675" y="1676563"/>
                  </a:lnTo>
                  <a:lnTo>
                    <a:pt x="4606749" y="1622365"/>
                  </a:lnTo>
                  <a:lnTo>
                    <a:pt x="4610504" y="1568042"/>
                  </a:lnTo>
                  <a:lnTo>
                    <a:pt x="4613940" y="1513598"/>
                  </a:lnTo>
                  <a:lnTo>
                    <a:pt x="4617054" y="1459032"/>
                  </a:lnTo>
                  <a:lnTo>
                    <a:pt x="4619846" y="1404348"/>
                  </a:lnTo>
                  <a:lnTo>
                    <a:pt x="4622314" y="1349546"/>
                  </a:lnTo>
                  <a:lnTo>
                    <a:pt x="4624457" y="1294628"/>
                  </a:lnTo>
                  <a:lnTo>
                    <a:pt x="4626274" y="1239597"/>
                  </a:lnTo>
                  <a:lnTo>
                    <a:pt x="4627763" y="1184453"/>
                  </a:lnTo>
                  <a:lnTo>
                    <a:pt x="4628923" y="1129198"/>
                  </a:lnTo>
                  <a:lnTo>
                    <a:pt x="4629754" y="1073834"/>
                  </a:lnTo>
                  <a:lnTo>
                    <a:pt x="4630253" y="1018363"/>
                  </a:lnTo>
                  <a:lnTo>
                    <a:pt x="4630420" y="962787"/>
                  </a:lnTo>
                  <a:lnTo>
                    <a:pt x="4630284" y="912510"/>
                  </a:lnTo>
                  <a:lnTo>
                    <a:pt x="4629876" y="862320"/>
                  </a:lnTo>
                  <a:lnTo>
                    <a:pt x="4629198" y="812217"/>
                  </a:lnTo>
                  <a:lnTo>
                    <a:pt x="4628249" y="762203"/>
                  </a:lnTo>
                  <a:lnTo>
                    <a:pt x="4627030" y="712277"/>
                  </a:lnTo>
                  <a:lnTo>
                    <a:pt x="4625541" y="662441"/>
                  </a:lnTo>
                  <a:lnTo>
                    <a:pt x="4623784" y="612695"/>
                  </a:lnTo>
                  <a:lnTo>
                    <a:pt x="4621759" y="563041"/>
                  </a:lnTo>
                  <a:lnTo>
                    <a:pt x="4619466" y="513479"/>
                  </a:lnTo>
                  <a:lnTo>
                    <a:pt x="4616905" y="464010"/>
                  </a:lnTo>
                  <a:lnTo>
                    <a:pt x="4614078" y="414635"/>
                  </a:lnTo>
                  <a:lnTo>
                    <a:pt x="4610986" y="365354"/>
                  </a:lnTo>
                  <a:lnTo>
                    <a:pt x="4607627" y="316169"/>
                  </a:lnTo>
                  <a:lnTo>
                    <a:pt x="4604004" y="267080"/>
                  </a:lnTo>
                  <a:lnTo>
                    <a:pt x="4578604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518660" cy="6858000"/>
            </a:xfrm>
            <a:custGeom>
              <a:avLst/>
              <a:gdLst/>
              <a:ahLst/>
              <a:cxnLst/>
              <a:rect l="l" t="t" r="r" b="b"/>
              <a:pathLst>
                <a:path w="4518660" h="6858000">
                  <a:moveTo>
                    <a:pt x="446582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827911" y="6857999"/>
                  </a:lnTo>
                  <a:lnTo>
                    <a:pt x="1912620" y="6800151"/>
                  </a:lnTo>
                  <a:lnTo>
                    <a:pt x="1947033" y="6774994"/>
                  </a:lnTo>
                  <a:lnTo>
                    <a:pt x="1981281" y="6749487"/>
                  </a:lnTo>
                  <a:lnTo>
                    <a:pt x="2015363" y="6723632"/>
                  </a:lnTo>
                  <a:lnTo>
                    <a:pt x="2049276" y="6697431"/>
                  </a:lnTo>
                  <a:lnTo>
                    <a:pt x="2083020" y="6670885"/>
                  </a:lnTo>
                  <a:lnTo>
                    <a:pt x="2116592" y="6643996"/>
                  </a:lnTo>
                  <a:lnTo>
                    <a:pt x="2149993" y="6616767"/>
                  </a:lnTo>
                  <a:lnTo>
                    <a:pt x="2183219" y="6589198"/>
                  </a:lnTo>
                  <a:lnTo>
                    <a:pt x="2216271" y="6561293"/>
                  </a:lnTo>
                  <a:lnTo>
                    <a:pt x="2249147" y="6533051"/>
                  </a:lnTo>
                  <a:lnTo>
                    <a:pt x="2281844" y="6504476"/>
                  </a:lnTo>
                  <a:lnTo>
                    <a:pt x="2314363" y="6475570"/>
                  </a:lnTo>
                  <a:lnTo>
                    <a:pt x="2346702" y="6446333"/>
                  </a:lnTo>
                  <a:lnTo>
                    <a:pt x="2378858" y="6416768"/>
                  </a:lnTo>
                  <a:lnTo>
                    <a:pt x="2410832" y="6386876"/>
                  </a:lnTo>
                  <a:lnTo>
                    <a:pt x="2442621" y="6356660"/>
                  </a:lnTo>
                  <a:lnTo>
                    <a:pt x="2474224" y="6326121"/>
                  </a:lnTo>
                  <a:lnTo>
                    <a:pt x="2505640" y="6295261"/>
                  </a:lnTo>
                  <a:lnTo>
                    <a:pt x="2536868" y="6264082"/>
                  </a:lnTo>
                  <a:lnTo>
                    <a:pt x="2567905" y="6232585"/>
                  </a:lnTo>
                  <a:lnTo>
                    <a:pt x="2598752" y="6200773"/>
                  </a:lnTo>
                  <a:lnTo>
                    <a:pt x="2629406" y="6168647"/>
                  </a:lnTo>
                  <a:lnTo>
                    <a:pt x="2659865" y="6136209"/>
                  </a:lnTo>
                  <a:lnTo>
                    <a:pt x="2690130" y="6103460"/>
                  </a:lnTo>
                  <a:lnTo>
                    <a:pt x="2720198" y="6070404"/>
                  </a:lnTo>
                  <a:lnTo>
                    <a:pt x="2750068" y="6037040"/>
                  </a:lnTo>
                  <a:lnTo>
                    <a:pt x="2779739" y="6003372"/>
                  </a:lnTo>
                  <a:lnTo>
                    <a:pt x="2809209" y="5969401"/>
                  </a:lnTo>
                  <a:lnTo>
                    <a:pt x="2838477" y="5935129"/>
                  </a:lnTo>
                  <a:lnTo>
                    <a:pt x="2867541" y="5900557"/>
                  </a:lnTo>
                  <a:lnTo>
                    <a:pt x="2896401" y="5865688"/>
                  </a:lnTo>
                  <a:lnTo>
                    <a:pt x="2925055" y="5830523"/>
                  </a:lnTo>
                  <a:lnTo>
                    <a:pt x="2953501" y="5795064"/>
                  </a:lnTo>
                  <a:lnTo>
                    <a:pt x="2981738" y="5759313"/>
                  </a:lnTo>
                  <a:lnTo>
                    <a:pt x="3009766" y="5723272"/>
                  </a:lnTo>
                  <a:lnTo>
                    <a:pt x="3037581" y="5686942"/>
                  </a:lnTo>
                  <a:lnTo>
                    <a:pt x="3065184" y="5650325"/>
                  </a:lnTo>
                  <a:lnTo>
                    <a:pt x="3092573" y="5613423"/>
                  </a:lnTo>
                  <a:lnTo>
                    <a:pt x="3119745" y="5576239"/>
                  </a:lnTo>
                  <a:lnTo>
                    <a:pt x="3146701" y="5538773"/>
                  </a:lnTo>
                  <a:lnTo>
                    <a:pt x="3173439" y="5501027"/>
                  </a:lnTo>
                  <a:lnTo>
                    <a:pt x="3199957" y="5463004"/>
                  </a:lnTo>
                  <a:lnTo>
                    <a:pt x="3226254" y="5424705"/>
                  </a:lnTo>
                  <a:lnTo>
                    <a:pt x="3252329" y="5386131"/>
                  </a:lnTo>
                  <a:lnTo>
                    <a:pt x="3278180" y="5347286"/>
                  </a:lnTo>
                  <a:lnTo>
                    <a:pt x="3303806" y="5308169"/>
                  </a:lnTo>
                  <a:lnTo>
                    <a:pt x="3329205" y="5268785"/>
                  </a:lnTo>
                  <a:lnTo>
                    <a:pt x="3354377" y="5229133"/>
                  </a:lnTo>
                  <a:lnTo>
                    <a:pt x="3379320" y="5189216"/>
                  </a:lnTo>
                  <a:lnTo>
                    <a:pt x="3404032" y="5149036"/>
                  </a:lnTo>
                  <a:lnTo>
                    <a:pt x="3428512" y="5108595"/>
                  </a:lnTo>
                  <a:lnTo>
                    <a:pt x="3452759" y="5067894"/>
                  </a:lnTo>
                  <a:lnTo>
                    <a:pt x="3476772" y="5026935"/>
                  </a:lnTo>
                  <a:lnTo>
                    <a:pt x="3500548" y="4985719"/>
                  </a:lnTo>
                  <a:lnTo>
                    <a:pt x="3524088" y="4944250"/>
                  </a:lnTo>
                  <a:lnTo>
                    <a:pt x="3547388" y="4902528"/>
                  </a:lnTo>
                  <a:lnTo>
                    <a:pt x="3570449" y="4860556"/>
                  </a:lnTo>
                  <a:lnTo>
                    <a:pt x="3593269" y="4818335"/>
                  </a:lnTo>
                  <a:lnTo>
                    <a:pt x="3615846" y="4775866"/>
                  </a:lnTo>
                  <a:lnTo>
                    <a:pt x="3638178" y="4733153"/>
                  </a:lnTo>
                  <a:lnTo>
                    <a:pt x="3660266" y="4690196"/>
                  </a:lnTo>
                  <a:lnTo>
                    <a:pt x="3682107" y="4646998"/>
                  </a:lnTo>
                  <a:lnTo>
                    <a:pt x="3703699" y="4603559"/>
                  </a:lnTo>
                  <a:lnTo>
                    <a:pt x="3725042" y="4559883"/>
                  </a:lnTo>
                  <a:lnTo>
                    <a:pt x="3746135" y="4515970"/>
                  </a:lnTo>
                  <a:lnTo>
                    <a:pt x="3766975" y="4471823"/>
                  </a:lnTo>
                  <a:lnTo>
                    <a:pt x="3787562" y="4427444"/>
                  </a:lnTo>
                  <a:lnTo>
                    <a:pt x="3807894" y="4382834"/>
                  </a:lnTo>
                  <a:lnTo>
                    <a:pt x="3827970" y="4337994"/>
                  </a:lnTo>
                  <a:lnTo>
                    <a:pt x="3847788" y="4292928"/>
                  </a:lnTo>
                  <a:lnTo>
                    <a:pt x="3867347" y="4247636"/>
                  </a:lnTo>
                  <a:lnTo>
                    <a:pt x="3886646" y="4202121"/>
                  </a:lnTo>
                  <a:lnTo>
                    <a:pt x="3905683" y="4156384"/>
                  </a:lnTo>
                  <a:lnTo>
                    <a:pt x="3924458" y="4110426"/>
                  </a:lnTo>
                  <a:lnTo>
                    <a:pt x="3942968" y="4064251"/>
                  </a:lnTo>
                  <a:lnTo>
                    <a:pt x="3961212" y="4017860"/>
                  </a:lnTo>
                  <a:lnTo>
                    <a:pt x="3979190" y="3971254"/>
                  </a:lnTo>
                  <a:lnTo>
                    <a:pt x="3996899" y="3924435"/>
                  </a:lnTo>
                  <a:lnTo>
                    <a:pt x="4014338" y="3877405"/>
                  </a:lnTo>
                  <a:lnTo>
                    <a:pt x="4031506" y="3830166"/>
                  </a:lnTo>
                  <a:lnTo>
                    <a:pt x="4048402" y="3782720"/>
                  </a:lnTo>
                  <a:lnTo>
                    <a:pt x="4065024" y="3735068"/>
                  </a:lnTo>
                  <a:lnTo>
                    <a:pt x="4081371" y="3687212"/>
                  </a:lnTo>
                  <a:lnTo>
                    <a:pt x="4097441" y="3639155"/>
                  </a:lnTo>
                  <a:lnTo>
                    <a:pt x="4113233" y="3590898"/>
                  </a:lnTo>
                  <a:lnTo>
                    <a:pt x="4128746" y="3542442"/>
                  </a:lnTo>
                  <a:lnTo>
                    <a:pt x="4143979" y="3493790"/>
                  </a:lnTo>
                  <a:lnTo>
                    <a:pt x="4158930" y="3444943"/>
                  </a:lnTo>
                  <a:lnTo>
                    <a:pt x="4173597" y="3395903"/>
                  </a:lnTo>
                  <a:lnTo>
                    <a:pt x="4187980" y="3346672"/>
                  </a:lnTo>
                  <a:lnTo>
                    <a:pt x="4202076" y="3297252"/>
                  </a:lnTo>
                  <a:lnTo>
                    <a:pt x="4215886" y="3247644"/>
                  </a:lnTo>
                  <a:lnTo>
                    <a:pt x="4229407" y="3197851"/>
                  </a:lnTo>
                  <a:lnTo>
                    <a:pt x="4242637" y="3147874"/>
                  </a:lnTo>
                  <a:lnTo>
                    <a:pt x="4255577" y="3097715"/>
                  </a:lnTo>
                  <a:lnTo>
                    <a:pt x="4268223" y="3047375"/>
                  </a:lnTo>
                  <a:lnTo>
                    <a:pt x="4280576" y="2996857"/>
                  </a:lnTo>
                  <a:lnTo>
                    <a:pt x="4292633" y="2946163"/>
                  </a:lnTo>
                  <a:lnTo>
                    <a:pt x="4304393" y="2895293"/>
                  </a:lnTo>
                  <a:lnTo>
                    <a:pt x="4315855" y="2844251"/>
                  </a:lnTo>
                  <a:lnTo>
                    <a:pt x="4327017" y="2793037"/>
                  </a:lnTo>
                  <a:lnTo>
                    <a:pt x="4337879" y="2741654"/>
                  </a:lnTo>
                  <a:lnTo>
                    <a:pt x="4348438" y="2690104"/>
                  </a:lnTo>
                  <a:lnTo>
                    <a:pt x="4358694" y="2638387"/>
                  </a:lnTo>
                  <a:lnTo>
                    <a:pt x="4368645" y="2586507"/>
                  </a:lnTo>
                  <a:lnTo>
                    <a:pt x="4378289" y="2534464"/>
                  </a:lnTo>
                  <a:lnTo>
                    <a:pt x="4387626" y="2482261"/>
                  </a:lnTo>
                  <a:lnTo>
                    <a:pt x="4396654" y="2429900"/>
                  </a:lnTo>
                  <a:lnTo>
                    <a:pt x="4405372" y="2377381"/>
                  </a:lnTo>
                  <a:lnTo>
                    <a:pt x="4413778" y="2324708"/>
                  </a:lnTo>
                  <a:lnTo>
                    <a:pt x="4421870" y="2271881"/>
                  </a:lnTo>
                  <a:lnTo>
                    <a:pt x="4429649" y="2218904"/>
                  </a:lnTo>
                  <a:lnTo>
                    <a:pt x="4437111" y="2165776"/>
                  </a:lnTo>
                  <a:lnTo>
                    <a:pt x="4444257" y="2112501"/>
                  </a:lnTo>
                  <a:lnTo>
                    <a:pt x="4451084" y="2059080"/>
                  </a:lnTo>
                  <a:lnTo>
                    <a:pt x="4457591" y="2005514"/>
                  </a:lnTo>
                  <a:lnTo>
                    <a:pt x="4463777" y="1951807"/>
                  </a:lnTo>
                  <a:lnTo>
                    <a:pt x="4469640" y="1897959"/>
                  </a:lnTo>
                  <a:lnTo>
                    <a:pt x="4475180" y="1843972"/>
                  </a:lnTo>
                  <a:lnTo>
                    <a:pt x="4480394" y="1789848"/>
                  </a:lnTo>
                  <a:lnTo>
                    <a:pt x="4485282" y="1735589"/>
                  </a:lnTo>
                  <a:lnTo>
                    <a:pt x="4489842" y="1681197"/>
                  </a:lnTo>
                  <a:lnTo>
                    <a:pt x="4494072" y="1626673"/>
                  </a:lnTo>
                  <a:lnTo>
                    <a:pt x="4497972" y="1572019"/>
                  </a:lnTo>
                  <a:lnTo>
                    <a:pt x="4501540" y="1517238"/>
                  </a:lnTo>
                  <a:lnTo>
                    <a:pt x="4504774" y="1462330"/>
                  </a:lnTo>
                  <a:lnTo>
                    <a:pt x="4507674" y="1407299"/>
                  </a:lnTo>
                  <a:lnTo>
                    <a:pt x="4510238" y="1352144"/>
                  </a:lnTo>
                  <a:lnTo>
                    <a:pt x="4512464" y="1296869"/>
                  </a:lnTo>
                  <a:lnTo>
                    <a:pt x="4514351" y="1241476"/>
                  </a:lnTo>
                  <a:lnTo>
                    <a:pt x="4515899" y="1185965"/>
                  </a:lnTo>
                  <a:lnTo>
                    <a:pt x="4517105" y="1130339"/>
                  </a:lnTo>
                  <a:lnTo>
                    <a:pt x="4517967" y="1074599"/>
                  </a:lnTo>
                  <a:lnTo>
                    <a:pt x="4518486" y="1018748"/>
                  </a:lnTo>
                  <a:lnTo>
                    <a:pt x="4518660" y="962787"/>
                  </a:lnTo>
                  <a:lnTo>
                    <a:pt x="4518504" y="909963"/>
                  </a:lnTo>
                  <a:lnTo>
                    <a:pt x="4518040" y="857236"/>
                  </a:lnTo>
                  <a:lnTo>
                    <a:pt x="4517267" y="804607"/>
                  </a:lnTo>
                  <a:lnTo>
                    <a:pt x="4516189" y="752078"/>
                  </a:lnTo>
                  <a:lnTo>
                    <a:pt x="4514807" y="699651"/>
                  </a:lnTo>
                  <a:lnTo>
                    <a:pt x="4513122" y="647327"/>
                  </a:lnTo>
                  <a:lnTo>
                    <a:pt x="4511136" y="595108"/>
                  </a:lnTo>
                  <a:lnTo>
                    <a:pt x="4508852" y="542996"/>
                  </a:lnTo>
                  <a:lnTo>
                    <a:pt x="4506270" y="490992"/>
                  </a:lnTo>
                  <a:lnTo>
                    <a:pt x="4503393" y="439099"/>
                  </a:lnTo>
                  <a:lnTo>
                    <a:pt x="4500222" y="387318"/>
                  </a:lnTo>
                  <a:lnTo>
                    <a:pt x="4496759" y="335650"/>
                  </a:lnTo>
                  <a:lnTo>
                    <a:pt x="4493006" y="284099"/>
                  </a:lnTo>
                  <a:lnTo>
                    <a:pt x="4465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59" y="2349500"/>
              <a:ext cx="3035300" cy="78993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40325" y="2190051"/>
            <a:ext cx="3501390" cy="2409190"/>
          </a:xfrm>
          <a:prstGeom prst="rect"/>
        </p:spPr>
        <p:txBody>
          <a:bodyPr wrap="square" lIns="0" tIns="55879" rIns="0" bIns="0" rtlCol="0" vert="horz">
            <a:spAutoFit/>
          </a:bodyPr>
          <a:lstStyle/>
          <a:p>
            <a:pPr algn="just" marL="12700" marR="5080">
              <a:lnSpc>
                <a:spcPct val="94800"/>
              </a:lnSpc>
              <a:spcBef>
                <a:spcPts val="439"/>
              </a:spcBef>
            </a:pPr>
            <a:r>
              <a:rPr dirty="0" sz="5400" spc="-60" b="0">
                <a:solidFill>
                  <a:srgbClr val="FFFFFF"/>
                </a:solidFill>
                <a:latin typeface="Calibri Light"/>
                <a:cs typeface="Calibri Light"/>
              </a:rPr>
              <a:t>Recirculating </a:t>
            </a:r>
            <a:r>
              <a:rPr dirty="0" sz="5400" spc="-10" b="0">
                <a:solidFill>
                  <a:srgbClr val="FFFFFF"/>
                </a:solidFill>
                <a:latin typeface="Calibri Light"/>
                <a:cs typeface="Calibri Light"/>
              </a:rPr>
              <a:t>Aquaculture System</a:t>
            </a:r>
            <a:endParaRPr sz="5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38499"/>
            <a:ext cx="9144000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041" y="444529"/>
            <a:ext cx="2161602" cy="3707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5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Biofiltración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189854" y="2052320"/>
            <a:ext cx="3451225" cy="346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243204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	Las</a:t>
            </a:r>
            <a:r>
              <a:rPr dirty="0" sz="1600" spc="1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sustancias</a:t>
            </a:r>
            <a:r>
              <a:rPr dirty="0" sz="1600" spc="1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orgánicas</a:t>
            </a:r>
            <a:r>
              <a:rPr dirty="0" sz="1600" spc="1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</a:t>
            </a:r>
            <a:r>
              <a:rPr dirty="0" sz="1600" spc="1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inorgánicas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producidas</a:t>
            </a:r>
            <a:r>
              <a:rPr dirty="0" sz="1600" spc="285">
                <a:solidFill>
                  <a:srgbClr val="001279"/>
                </a:solidFill>
                <a:latin typeface="Calibri"/>
                <a:cs typeface="Calibri"/>
              </a:rPr>
              <a:t> 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</a:t>
            </a:r>
            <a:r>
              <a:rPr dirty="0" sz="1600" spc="285">
                <a:solidFill>
                  <a:srgbClr val="001279"/>
                </a:solidFill>
                <a:latin typeface="Calibri"/>
                <a:cs typeface="Calibri"/>
              </a:rPr>
              <a:t> 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285">
                <a:solidFill>
                  <a:srgbClr val="001279"/>
                </a:solidFill>
                <a:latin typeface="Calibri"/>
                <a:cs typeface="Calibri"/>
              </a:rPr>
              <a:t> 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sistema</a:t>
            </a:r>
            <a:r>
              <a:rPr dirty="0" sz="1600" spc="285">
                <a:solidFill>
                  <a:srgbClr val="001279"/>
                </a:solidFill>
                <a:latin typeface="Calibri"/>
                <a:cs typeface="Calibri"/>
              </a:rPr>
              <a:t>  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son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removidas</a:t>
            </a:r>
            <a:r>
              <a:rPr dirty="0" sz="1600" spc="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r>
              <a:rPr dirty="0" sz="1600" spc="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través</a:t>
            </a:r>
            <a:r>
              <a:rPr dirty="0" sz="1600" spc="4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un</a:t>
            </a:r>
            <a:r>
              <a:rPr dirty="0" sz="1600" spc="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tratamiento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biológico,</a:t>
            </a:r>
            <a:r>
              <a:rPr dirty="0" sz="1600" spc="2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basado</a:t>
            </a:r>
            <a:r>
              <a:rPr dirty="0" sz="1600" spc="2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</a:t>
            </a:r>
            <a:r>
              <a:rPr dirty="0" sz="1600" spc="2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</a:t>
            </a:r>
            <a:r>
              <a:rPr dirty="0" sz="1600" spc="2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utilización</a:t>
            </a:r>
            <a:r>
              <a:rPr dirty="0" sz="1600" spc="229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de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microorganismos.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1279"/>
              </a:buClr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1279"/>
              </a:buClr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éxito</a:t>
            </a:r>
            <a:r>
              <a:rPr dirty="0" sz="1600" spc="-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-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un</a:t>
            </a:r>
            <a:r>
              <a:rPr dirty="0" sz="1600" spc="-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sistema</a:t>
            </a:r>
            <a:r>
              <a:rPr dirty="0" sz="1600" spc="-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-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recirculación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depende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de:</a:t>
            </a:r>
            <a:endParaRPr sz="1600">
              <a:latin typeface="Calibri"/>
              <a:cs typeface="Calibri"/>
            </a:endParaRPr>
          </a:p>
          <a:p>
            <a:pPr marL="12700" marR="99695">
              <a:lnSpc>
                <a:spcPct val="100000"/>
              </a:lnSpc>
              <a:spcBef>
                <a:spcPts val="1005"/>
              </a:spcBef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1.-</a:t>
            </a:r>
            <a:r>
              <a:rPr dirty="0" sz="1600" spc="-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</a:t>
            </a:r>
            <a:r>
              <a:rPr dirty="0" sz="1600" spc="-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capacidad</a:t>
            </a:r>
            <a:r>
              <a:rPr dirty="0" sz="1600" spc="-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controlar</a:t>
            </a:r>
            <a:r>
              <a:rPr dirty="0" sz="1600" spc="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los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procesos</a:t>
            </a:r>
            <a:r>
              <a:rPr dirty="0" sz="1600" spc="-1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que</a:t>
            </a:r>
            <a:r>
              <a:rPr dirty="0" sz="1600" spc="-1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tienen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lugar</a:t>
            </a:r>
            <a:r>
              <a:rPr dirty="0" sz="1600" spc="-4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-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biofiltro.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2.-</a:t>
            </a:r>
            <a:r>
              <a:rPr dirty="0" sz="1600" spc="-2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conocimiento</a:t>
            </a:r>
            <a:r>
              <a:rPr dirty="0" sz="1600" spc="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del</a:t>
            </a:r>
            <a:r>
              <a:rPr dirty="0" sz="1600" spc="-1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funcionamiento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-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estos</a:t>
            </a:r>
            <a:r>
              <a:rPr dirty="0" sz="1600" spc="-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procesos.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459" y="1874520"/>
            <a:ext cx="3738879" cy="22478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59" y="4264659"/>
            <a:ext cx="3738879" cy="25933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10"/>
              <a:t> 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760" y="1297939"/>
            <a:ext cx="5087620" cy="29337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53732" y="4426902"/>
            <a:ext cx="7884795" cy="202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285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Biofilm: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población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ambientes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húmedos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</a:t>
            </a:r>
            <a:r>
              <a:rPr dirty="0" sz="1800" spc="-10">
                <a:latin typeface="Arial MT"/>
                <a:cs typeface="Arial MT"/>
              </a:rPr>
              <a:t> sumergidos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agua,</a:t>
            </a:r>
            <a:r>
              <a:rPr dirty="0" sz="1800" spc="45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crecen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unidas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superficie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sustrato,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envueltas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una </a:t>
            </a:r>
            <a:r>
              <a:rPr dirty="0" sz="1800">
                <a:latin typeface="Arial MT"/>
                <a:cs typeface="Arial MT"/>
              </a:rPr>
              <a:t>matriz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 </a:t>
            </a:r>
            <a:r>
              <a:rPr dirty="0" sz="1800" spc="-10">
                <a:latin typeface="Arial MT"/>
                <a:cs typeface="Arial MT"/>
              </a:rPr>
              <a:t>exopolisacaridos.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800">
              <a:latin typeface="Arial MT"/>
              <a:cs typeface="Arial MT"/>
            </a:endParaRPr>
          </a:p>
          <a:p>
            <a:pPr algn="just" marL="12700" marR="5588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3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bacterias</a:t>
            </a:r>
            <a:r>
              <a:rPr dirty="0" sz="1800" spc="3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3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</a:t>
            </a:r>
            <a:r>
              <a:rPr dirty="0" sz="1800" spc="3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adaptan</a:t>
            </a:r>
            <a:r>
              <a:rPr dirty="0" sz="1800" spc="3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rápidamente</a:t>
            </a:r>
            <a:r>
              <a:rPr dirty="0" sz="1800" spc="3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medio</a:t>
            </a:r>
            <a:r>
              <a:rPr dirty="0" sz="1800" spc="3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ambiente</a:t>
            </a:r>
            <a:r>
              <a:rPr dirty="0" sz="1800" spc="3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</a:t>
            </a:r>
            <a:r>
              <a:rPr dirty="0" sz="1800" spc="30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aquellas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210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21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cuales</a:t>
            </a:r>
            <a:r>
              <a:rPr dirty="0" sz="1800" spc="21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21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sustrato</a:t>
            </a:r>
            <a:r>
              <a:rPr dirty="0" sz="1800" spc="220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21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21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crecimiento</a:t>
            </a:r>
            <a:r>
              <a:rPr dirty="0" sz="1800" spc="210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está</a:t>
            </a:r>
            <a:r>
              <a:rPr dirty="0" sz="1800" spc="220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disponible,</a:t>
            </a:r>
            <a:r>
              <a:rPr dirty="0" sz="1800" spc="225">
                <a:latin typeface="Arial MT"/>
                <a:cs typeface="Arial MT"/>
              </a:rPr>
              <a:t>  </a:t>
            </a:r>
            <a:r>
              <a:rPr dirty="0" sz="1800" spc="-25">
                <a:latin typeface="Arial MT"/>
                <a:cs typeface="Arial MT"/>
              </a:rPr>
              <a:t>se </a:t>
            </a:r>
            <a:r>
              <a:rPr dirty="0" sz="1800">
                <a:latin typeface="Arial MT"/>
                <a:cs typeface="Arial MT"/>
              </a:rPr>
              <a:t>transformarán</a:t>
            </a:r>
            <a:r>
              <a:rPr dirty="0" sz="1800" spc="4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especies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dominantes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biofiltro.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/>
              <a:t>Tipos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 spc="-10"/>
              <a:t>sustrato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760" y="1998979"/>
            <a:ext cx="2626675" cy="28854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3859" y="1998979"/>
            <a:ext cx="4236720" cy="286004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64552" y="4997957"/>
            <a:ext cx="2872740" cy="112268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1600">
                <a:latin typeface="Arial MT"/>
                <a:cs typeface="Arial MT"/>
              </a:rPr>
              <a:t>Filtro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Desgasificador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(Trickling)</a:t>
            </a:r>
            <a:endParaRPr sz="16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  <a:spcBef>
                <a:spcPts val="960"/>
              </a:spcBef>
            </a:pPr>
            <a:r>
              <a:rPr dirty="0" sz="1600" spc="-10">
                <a:latin typeface="Arial MT"/>
                <a:cs typeface="Arial MT"/>
              </a:rPr>
              <a:t>Bio-Bloks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Arial MT"/>
                <a:cs typeface="Arial MT"/>
              </a:rPr>
              <a:t>200 </a:t>
            </a:r>
            <a:r>
              <a:rPr dirty="0" sz="1600" spc="-10">
                <a:latin typeface="Arial MT"/>
                <a:cs typeface="Arial MT"/>
              </a:rPr>
              <a:t>m</a:t>
            </a:r>
            <a:r>
              <a:rPr dirty="0" baseline="26455" sz="1575" spc="-15">
                <a:latin typeface="Arial MT"/>
                <a:cs typeface="Arial MT"/>
              </a:rPr>
              <a:t>2</a:t>
            </a:r>
            <a:r>
              <a:rPr dirty="0" sz="1600" spc="-10">
                <a:latin typeface="Arial MT"/>
                <a:cs typeface="Arial MT"/>
              </a:rPr>
              <a:t>/m</a:t>
            </a:r>
            <a:r>
              <a:rPr dirty="0" baseline="26455" sz="1575" spc="-15">
                <a:latin typeface="Arial MT"/>
                <a:cs typeface="Arial MT"/>
              </a:rPr>
              <a:t>3</a:t>
            </a:r>
            <a:endParaRPr baseline="26455" sz="1575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35904" y="4979797"/>
            <a:ext cx="178943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100" marR="30480">
              <a:lnSpc>
                <a:spcPct val="150100"/>
              </a:lnSpc>
              <a:spcBef>
                <a:spcPts val="100"/>
              </a:spcBef>
            </a:pPr>
            <a:r>
              <a:rPr dirty="0" sz="1600">
                <a:latin typeface="Arial MT"/>
                <a:cs typeface="Arial MT"/>
              </a:rPr>
              <a:t>Biofiltro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Sumergido Bio-Cells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Arial MT"/>
                <a:cs typeface="Arial MT"/>
              </a:rPr>
              <a:t>700 </a:t>
            </a:r>
            <a:r>
              <a:rPr dirty="0" sz="1600" spc="-10">
                <a:latin typeface="Arial MT"/>
                <a:cs typeface="Arial MT"/>
              </a:rPr>
              <a:t>m</a:t>
            </a:r>
            <a:r>
              <a:rPr dirty="0" baseline="26455" sz="1575" spc="-15">
                <a:latin typeface="Arial MT"/>
                <a:cs typeface="Arial MT"/>
              </a:rPr>
              <a:t>2</a:t>
            </a:r>
            <a:r>
              <a:rPr dirty="0" sz="1600" spc="-10">
                <a:latin typeface="Arial MT"/>
                <a:cs typeface="Arial MT"/>
              </a:rPr>
              <a:t>/m</a:t>
            </a:r>
            <a:r>
              <a:rPr dirty="0" baseline="26455" sz="1575" spc="-15">
                <a:latin typeface="Arial MT"/>
                <a:cs typeface="Arial MT"/>
              </a:rPr>
              <a:t>3</a:t>
            </a:r>
            <a:endParaRPr baseline="26455" sz="157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/>
              <a:t>Tipos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 spc="-10"/>
              <a:t>Biofiltro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1572260"/>
            <a:ext cx="2857500" cy="3810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" y="1640839"/>
            <a:ext cx="4986020" cy="37414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691639" y="5551804"/>
            <a:ext cx="178816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Arial MT"/>
                <a:cs typeface="Arial MT"/>
              </a:rPr>
              <a:t>Biofiltro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Sumergido Bio-</a:t>
            </a:r>
            <a:r>
              <a:rPr dirty="0" sz="1600">
                <a:latin typeface="Arial MT"/>
                <a:cs typeface="Arial MT"/>
              </a:rPr>
              <a:t>medio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RK</a:t>
            </a:r>
            <a:endParaRPr sz="16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Arial MT"/>
                <a:cs typeface="Arial MT"/>
              </a:rPr>
              <a:t>700 </a:t>
            </a:r>
            <a:r>
              <a:rPr dirty="0" sz="1600" spc="-10">
                <a:latin typeface="Arial MT"/>
                <a:cs typeface="Arial MT"/>
              </a:rPr>
              <a:t>m</a:t>
            </a:r>
            <a:r>
              <a:rPr dirty="0" baseline="26455" sz="1575" spc="-15">
                <a:latin typeface="Arial MT"/>
                <a:cs typeface="Arial MT"/>
              </a:rPr>
              <a:t>2</a:t>
            </a:r>
            <a:r>
              <a:rPr dirty="0" sz="1600" spc="-10">
                <a:latin typeface="Arial MT"/>
                <a:cs typeface="Arial MT"/>
              </a:rPr>
              <a:t>/m</a:t>
            </a:r>
            <a:r>
              <a:rPr dirty="0" baseline="26455" sz="1575" spc="-15">
                <a:latin typeface="Arial MT"/>
                <a:cs typeface="Arial MT"/>
              </a:rPr>
              <a:t>3</a:t>
            </a:r>
            <a:endParaRPr baseline="26455" sz="1575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9521" y="5551804"/>
            <a:ext cx="240347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Arial MT"/>
                <a:cs typeface="Arial MT"/>
              </a:rPr>
              <a:t>Filtro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Medio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Fluidizado Bio-</a:t>
            </a:r>
            <a:r>
              <a:rPr dirty="0" sz="1600">
                <a:latin typeface="Arial MT"/>
                <a:cs typeface="Arial MT"/>
              </a:rPr>
              <a:t>medio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RK</a:t>
            </a:r>
            <a:endParaRPr sz="1600">
              <a:latin typeface="Arial MT"/>
              <a:cs typeface="Arial MT"/>
            </a:endParaRPr>
          </a:p>
          <a:p>
            <a:pPr algn="ctr" marR="635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Arial MT"/>
                <a:cs typeface="Arial MT"/>
              </a:rPr>
              <a:t>700 </a:t>
            </a:r>
            <a:r>
              <a:rPr dirty="0" sz="1600" spc="-10">
                <a:latin typeface="Arial MT"/>
                <a:cs typeface="Arial MT"/>
              </a:rPr>
              <a:t>m</a:t>
            </a:r>
            <a:r>
              <a:rPr dirty="0" baseline="26455" sz="1575" spc="-15">
                <a:latin typeface="Arial MT"/>
                <a:cs typeface="Arial MT"/>
              </a:rPr>
              <a:t>2</a:t>
            </a:r>
            <a:r>
              <a:rPr dirty="0" sz="1600" spc="-10">
                <a:latin typeface="Arial MT"/>
                <a:cs typeface="Arial MT"/>
              </a:rPr>
              <a:t>/m</a:t>
            </a:r>
            <a:r>
              <a:rPr dirty="0" baseline="26455" sz="1575" spc="-15">
                <a:latin typeface="Arial MT"/>
                <a:cs typeface="Arial MT"/>
              </a:rPr>
              <a:t>3</a:t>
            </a:r>
            <a:endParaRPr baseline="26455" sz="157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7380" y="463867"/>
            <a:ext cx="2840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Biofiltración</a:t>
            </a:r>
            <a:r>
              <a:rPr dirty="0" sz="2000" spc="-85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1279"/>
                </a:solidFill>
                <a:latin typeface="Calibri"/>
                <a:cs typeface="Calibri"/>
              </a:rPr>
              <a:t>–</a:t>
            </a:r>
            <a:r>
              <a:rPr dirty="0" sz="2000" spc="-20" b="1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1279"/>
                </a:solidFill>
                <a:latin typeface="Calibri"/>
                <a:cs typeface="Calibri"/>
              </a:rPr>
              <a:t>Nitrificación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3557" y="1863725"/>
            <a:ext cx="590423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dirty="0" sz="2800">
                <a:latin typeface="Calibri"/>
                <a:cs typeface="Calibri"/>
              </a:rPr>
              <a:t>Bacterias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aeróbicas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quimio-autótrofas</a:t>
            </a:r>
            <a:endParaRPr sz="2800">
              <a:latin typeface="Calibri"/>
              <a:cs typeface="Calibri"/>
            </a:endParaRPr>
          </a:p>
          <a:p>
            <a:pPr marL="1183640">
              <a:lnSpc>
                <a:spcPct val="100000"/>
              </a:lnSpc>
              <a:spcBef>
                <a:spcPts val="3360"/>
              </a:spcBef>
            </a:pPr>
            <a:r>
              <a:rPr dirty="0" sz="2800" spc="-25">
                <a:latin typeface="Calibri"/>
                <a:cs typeface="Calibri"/>
              </a:rPr>
              <a:t>O</a:t>
            </a:r>
            <a:r>
              <a:rPr dirty="0" baseline="-21021" sz="2775" spc="-37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8157" y="3144265"/>
            <a:ext cx="2303145" cy="514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42265">
              <a:lnSpc>
                <a:spcPts val="2495"/>
              </a:lnSpc>
              <a:spcBef>
                <a:spcPts val="100"/>
              </a:spcBef>
              <a:buChar char="•"/>
              <a:tabLst>
                <a:tab pos="393065" algn="l"/>
              </a:tabLst>
            </a:pPr>
            <a:r>
              <a:rPr dirty="0" sz="2800">
                <a:latin typeface="Calibri"/>
                <a:cs typeface="Calibri"/>
              </a:rPr>
              <a:t>NH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baseline="25525" sz="2775">
                <a:latin typeface="Calibri"/>
                <a:cs typeface="Calibri"/>
              </a:rPr>
              <a:t>+</a:t>
            </a:r>
            <a:r>
              <a:rPr dirty="0" baseline="25525" sz="2775" spc="345">
                <a:latin typeface="Calibri"/>
                <a:cs typeface="Calibri"/>
              </a:rPr>
              <a:t> </a:t>
            </a:r>
            <a:r>
              <a:rPr dirty="0" sz="2800">
                <a:latin typeface="Wingdings"/>
                <a:cs typeface="Wingdings"/>
              </a:rPr>
              <a:t>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baseline="25525" sz="2775" spc="-75">
                <a:latin typeface="Calibri"/>
                <a:cs typeface="Calibri"/>
              </a:rPr>
              <a:t>-</a:t>
            </a:r>
            <a:endParaRPr baseline="25525" sz="2775">
              <a:latin typeface="Calibri"/>
              <a:cs typeface="Calibri"/>
            </a:endParaRPr>
          </a:p>
          <a:p>
            <a:pPr marL="842644">
              <a:lnSpc>
                <a:spcPts val="1355"/>
              </a:lnSpc>
              <a:tabLst>
                <a:tab pos="2059939" algn="l"/>
              </a:tabLst>
            </a:pPr>
            <a:r>
              <a:rPr dirty="0" sz="1850" spc="-50">
                <a:latin typeface="Calibri"/>
                <a:cs typeface="Calibri"/>
              </a:rPr>
              <a:t>4</a:t>
            </a:r>
            <a:r>
              <a:rPr dirty="0" sz="1850">
                <a:latin typeface="Calibri"/>
                <a:cs typeface="Calibri"/>
              </a:rPr>
              <a:t>	</a:t>
            </a:r>
            <a:r>
              <a:rPr dirty="0" sz="1850" spc="-50"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4809" y="3144265"/>
            <a:ext cx="29933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Nitrosomonas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(AOB)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8157" y="3997959"/>
            <a:ext cx="2351405" cy="941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1725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latin typeface="Calibri"/>
                <a:cs typeface="Calibri"/>
              </a:rPr>
              <a:t>O</a:t>
            </a:r>
            <a:r>
              <a:rPr dirty="0" baseline="-21021" sz="2775" spc="-37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  <a:p>
            <a:pPr marL="393065" indent="-342265">
              <a:lnSpc>
                <a:spcPts val="2495"/>
              </a:lnSpc>
              <a:buChar char="•"/>
              <a:tabLst>
                <a:tab pos="393065" algn="l"/>
                <a:tab pos="1214120" algn="l"/>
              </a:tabLst>
            </a:pP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baseline="25525" sz="2775" spc="-75">
                <a:latin typeface="Calibri"/>
                <a:cs typeface="Calibri"/>
              </a:rPr>
              <a:t>-</a:t>
            </a:r>
            <a:r>
              <a:rPr dirty="0" baseline="25525" sz="2775">
                <a:latin typeface="Calibri"/>
                <a:cs typeface="Calibri"/>
              </a:rPr>
              <a:t>	</a:t>
            </a:r>
            <a:r>
              <a:rPr dirty="0" sz="2800">
                <a:latin typeface="Wingdings"/>
                <a:cs typeface="Wingdings"/>
              </a:rPr>
              <a:t>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baseline="25525" sz="2775" spc="-75">
                <a:latin typeface="Calibri"/>
                <a:cs typeface="Calibri"/>
              </a:rPr>
              <a:t>-</a:t>
            </a:r>
            <a:endParaRPr baseline="25525" sz="2775">
              <a:latin typeface="Calibri"/>
              <a:cs typeface="Calibri"/>
            </a:endParaRPr>
          </a:p>
          <a:p>
            <a:pPr marL="858519">
              <a:lnSpc>
                <a:spcPts val="1355"/>
              </a:lnSpc>
              <a:tabLst>
                <a:tab pos="2108200" algn="l"/>
              </a:tabLst>
            </a:pPr>
            <a:r>
              <a:rPr dirty="0" sz="1850" spc="-50">
                <a:latin typeface="Calibri"/>
                <a:cs typeface="Calibri"/>
              </a:rPr>
              <a:t>2</a:t>
            </a:r>
            <a:r>
              <a:rPr dirty="0" sz="1850">
                <a:latin typeface="Calibri"/>
                <a:cs typeface="Calibri"/>
              </a:rPr>
              <a:t>	</a:t>
            </a:r>
            <a:r>
              <a:rPr dirty="0" sz="1850" spc="-50"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94809" y="4424362"/>
            <a:ext cx="26492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Nitrobacter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(NOB)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Nitrificación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84015" y="998537"/>
            <a:ext cx="777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001279"/>
                </a:solidFill>
                <a:latin typeface="Calibri"/>
                <a:cs typeface="Calibri"/>
              </a:rPr>
              <a:t>Nitrato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52169" y="2047239"/>
            <a:ext cx="6604634" cy="4010660"/>
            <a:chOff x="1252169" y="2047239"/>
            <a:chExt cx="6604634" cy="4010660"/>
          </a:xfrm>
        </p:grpSpPr>
        <p:sp>
          <p:nvSpPr>
            <p:cNvPr id="5" name="object 5" descr=""/>
            <p:cNvSpPr/>
            <p:nvPr/>
          </p:nvSpPr>
          <p:spPr>
            <a:xfrm>
              <a:off x="1252169" y="2047239"/>
              <a:ext cx="6604634" cy="4010660"/>
            </a:xfrm>
            <a:custGeom>
              <a:avLst/>
              <a:gdLst/>
              <a:ahLst/>
              <a:cxnLst/>
              <a:rect l="l" t="t" r="r" b="b"/>
              <a:pathLst>
                <a:path w="6604634" h="4010660">
                  <a:moveTo>
                    <a:pt x="6604051" y="3972560"/>
                  </a:moveTo>
                  <a:lnTo>
                    <a:pt x="6588176" y="3964622"/>
                  </a:lnTo>
                  <a:lnTo>
                    <a:pt x="6527851" y="3934460"/>
                  </a:lnTo>
                  <a:lnTo>
                    <a:pt x="6527851" y="3964622"/>
                  </a:lnTo>
                  <a:lnTo>
                    <a:pt x="43484" y="3964622"/>
                  </a:lnTo>
                  <a:lnTo>
                    <a:pt x="46012" y="76200"/>
                  </a:lnTo>
                  <a:lnTo>
                    <a:pt x="76250" y="76200"/>
                  </a:lnTo>
                  <a:lnTo>
                    <a:pt x="69900" y="63500"/>
                  </a:lnTo>
                  <a:lnTo>
                    <a:pt x="38150" y="0"/>
                  </a:lnTo>
                  <a:lnTo>
                    <a:pt x="0" y="76200"/>
                  </a:lnTo>
                  <a:lnTo>
                    <a:pt x="30137" y="76200"/>
                  </a:lnTo>
                  <a:lnTo>
                    <a:pt x="27609" y="3972560"/>
                  </a:lnTo>
                  <a:lnTo>
                    <a:pt x="35610" y="3972560"/>
                  </a:lnTo>
                  <a:lnTo>
                    <a:pt x="35610" y="3980497"/>
                  </a:lnTo>
                  <a:lnTo>
                    <a:pt x="6527851" y="3980497"/>
                  </a:lnTo>
                  <a:lnTo>
                    <a:pt x="6527851" y="4010660"/>
                  </a:lnTo>
                  <a:lnTo>
                    <a:pt x="6588176" y="3980497"/>
                  </a:lnTo>
                  <a:lnTo>
                    <a:pt x="6604051" y="3972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7780" y="5085641"/>
              <a:ext cx="6055360" cy="934719"/>
            </a:xfrm>
            <a:custGeom>
              <a:avLst/>
              <a:gdLst/>
              <a:ahLst/>
              <a:cxnLst/>
              <a:rect l="l" t="t" r="r" b="b"/>
              <a:pathLst>
                <a:path w="6055359" h="934720">
                  <a:moveTo>
                    <a:pt x="0" y="934158"/>
                  </a:moveTo>
                  <a:lnTo>
                    <a:pt x="52022" y="906397"/>
                  </a:lnTo>
                  <a:lnTo>
                    <a:pt x="116581" y="870905"/>
                  </a:lnTo>
                  <a:lnTo>
                    <a:pt x="153035" y="850646"/>
                  </a:lnTo>
                  <a:lnTo>
                    <a:pt x="191992" y="828918"/>
                  </a:lnTo>
                  <a:lnTo>
                    <a:pt x="233241" y="805875"/>
                  </a:lnTo>
                  <a:lnTo>
                    <a:pt x="276572" y="781672"/>
                  </a:lnTo>
                  <a:lnTo>
                    <a:pt x="321774" y="756462"/>
                  </a:lnTo>
                  <a:lnTo>
                    <a:pt x="368636" y="730400"/>
                  </a:lnTo>
                  <a:lnTo>
                    <a:pt x="416948" y="703641"/>
                  </a:lnTo>
                  <a:lnTo>
                    <a:pt x="466500" y="676338"/>
                  </a:lnTo>
                  <a:lnTo>
                    <a:pt x="517080" y="648647"/>
                  </a:lnTo>
                  <a:lnTo>
                    <a:pt x="568479" y="620722"/>
                  </a:lnTo>
                  <a:lnTo>
                    <a:pt x="620485" y="592717"/>
                  </a:lnTo>
                  <a:lnTo>
                    <a:pt x="672889" y="564786"/>
                  </a:lnTo>
                  <a:lnTo>
                    <a:pt x="725480" y="537084"/>
                  </a:lnTo>
                  <a:lnTo>
                    <a:pt x="778047" y="509766"/>
                  </a:lnTo>
                  <a:lnTo>
                    <a:pt x="830380" y="482985"/>
                  </a:lnTo>
                  <a:lnTo>
                    <a:pt x="882267" y="456896"/>
                  </a:lnTo>
                  <a:lnTo>
                    <a:pt x="933500" y="431654"/>
                  </a:lnTo>
                  <a:lnTo>
                    <a:pt x="983866" y="407412"/>
                  </a:lnTo>
                  <a:lnTo>
                    <a:pt x="1033157" y="384326"/>
                  </a:lnTo>
                  <a:lnTo>
                    <a:pt x="1081160" y="362549"/>
                  </a:lnTo>
                  <a:lnTo>
                    <a:pt x="1127666" y="342236"/>
                  </a:lnTo>
                  <a:lnTo>
                    <a:pt x="1172464" y="323542"/>
                  </a:lnTo>
                  <a:lnTo>
                    <a:pt x="1220068" y="303955"/>
                  </a:lnTo>
                  <a:lnTo>
                    <a:pt x="1267798" y="283925"/>
                  </a:lnTo>
                  <a:lnTo>
                    <a:pt x="1315621" y="263587"/>
                  </a:lnTo>
                  <a:lnTo>
                    <a:pt x="1363503" y="243079"/>
                  </a:lnTo>
                  <a:lnTo>
                    <a:pt x="1411410" y="222537"/>
                  </a:lnTo>
                  <a:lnTo>
                    <a:pt x="1459309" y="202096"/>
                  </a:lnTo>
                  <a:lnTo>
                    <a:pt x="1507165" y="181893"/>
                  </a:lnTo>
                  <a:lnTo>
                    <a:pt x="1554945" y="162063"/>
                  </a:lnTo>
                  <a:lnTo>
                    <a:pt x="1602615" y="142744"/>
                  </a:lnTo>
                  <a:lnTo>
                    <a:pt x="1650142" y="124072"/>
                  </a:lnTo>
                  <a:lnTo>
                    <a:pt x="1697492" y="106182"/>
                  </a:lnTo>
                  <a:lnTo>
                    <a:pt x="1744630" y="89211"/>
                  </a:lnTo>
                  <a:lnTo>
                    <a:pt x="1791524" y="73295"/>
                  </a:lnTo>
                  <a:lnTo>
                    <a:pt x="1838139" y="58570"/>
                  </a:lnTo>
                  <a:lnTo>
                    <a:pt x="1884442" y="45172"/>
                  </a:lnTo>
                  <a:lnTo>
                    <a:pt x="1930400" y="33238"/>
                  </a:lnTo>
                  <a:lnTo>
                    <a:pt x="1975977" y="22904"/>
                  </a:lnTo>
                  <a:lnTo>
                    <a:pt x="2021141" y="14307"/>
                  </a:lnTo>
                  <a:lnTo>
                    <a:pt x="2065858" y="7581"/>
                  </a:lnTo>
                  <a:lnTo>
                    <a:pt x="2110094" y="2864"/>
                  </a:lnTo>
                  <a:lnTo>
                    <a:pt x="2153815" y="291"/>
                  </a:lnTo>
                  <a:lnTo>
                    <a:pt x="2196988" y="0"/>
                  </a:lnTo>
                  <a:lnTo>
                    <a:pt x="2239579" y="2125"/>
                  </a:lnTo>
                  <a:lnTo>
                    <a:pt x="2281555" y="6804"/>
                  </a:lnTo>
                  <a:lnTo>
                    <a:pt x="2324721" y="15160"/>
                  </a:lnTo>
                  <a:lnTo>
                    <a:pt x="2367303" y="27484"/>
                  </a:lnTo>
                  <a:lnTo>
                    <a:pt x="2409329" y="43442"/>
                  </a:lnTo>
                  <a:lnTo>
                    <a:pt x="2450826" y="62699"/>
                  </a:lnTo>
                  <a:lnTo>
                    <a:pt x="2491819" y="84923"/>
                  </a:lnTo>
                  <a:lnTo>
                    <a:pt x="2532338" y="109778"/>
                  </a:lnTo>
                  <a:lnTo>
                    <a:pt x="2572408" y="136932"/>
                  </a:lnTo>
                  <a:lnTo>
                    <a:pt x="2612056" y="166051"/>
                  </a:lnTo>
                  <a:lnTo>
                    <a:pt x="2651310" y="196801"/>
                  </a:lnTo>
                  <a:lnTo>
                    <a:pt x="2690197" y="228847"/>
                  </a:lnTo>
                  <a:lnTo>
                    <a:pt x="2728744" y="261857"/>
                  </a:lnTo>
                  <a:lnTo>
                    <a:pt x="2766978" y="295496"/>
                  </a:lnTo>
                  <a:lnTo>
                    <a:pt x="2804925" y="329431"/>
                  </a:lnTo>
                  <a:lnTo>
                    <a:pt x="2842614" y="363327"/>
                  </a:lnTo>
                  <a:lnTo>
                    <a:pt x="2880071" y="396852"/>
                  </a:lnTo>
                  <a:lnTo>
                    <a:pt x="2917322" y="429671"/>
                  </a:lnTo>
                  <a:lnTo>
                    <a:pt x="2954396" y="461450"/>
                  </a:lnTo>
                  <a:lnTo>
                    <a:pt x="2991319" y="491856"/>
                  </a:lnTo>
                  <a:lnTo>
                    <a:pt x="3028118" y="520555"/>
                  </a:lnTo>
                  <a:lnTo>
                    <a:pt x="3064821" y="547213"/>
                  </a:lnTo>
                  <a:lnTo>
                    <a:pt x="3101453" y="571496"/>
                  </a:lnTo>
                  <a:lnTo>
                    <a:pt x="3138044" y="593071"/>
                  </a:lnTo>
                  <a:lnTo>
                    <a:pt x="3174619" y="611603"/>
                  </a:lnTo>
                  <a:lnTo>
                    <a:pt x="3224451" y="634425"/>
                  </a:lnTo>
                  <a:lnTo>
                    <a:pt x="3269474" y="654463"/>
                  </a:lnTo>
                  <a:lnTo>
                    <a:pt x="3310709" y="671969"/>
                  </a:lnTo>
                  <a:lnTo>
                    <a:pt x="3349178" y="687198"/>
                  </a:lnTo>
                  <a:lnTo>
                    <a:pt x="3385902" y="700402"/>
                  </a:lnTo>
                  <a:lnTo>
                    <a:pt x="3458200" y="721747"/>
                  </a:lnTo>
                  <a:lnTo>
                    <a:pt x="3495817" y="730396"/>
                  </a:lnTo>
                  <a:lnTo>
                    <a:pt x="3535776" y="738031"/>
                  </a:lnTo>
                  <a:lnTo>
                    <a:pt x="3579097" y="744908"/>
                  </a:lnTo>
                  <a:lnTo>
                    <a:pt x="3626803" y="751279"/>
                  </a:lnTo>
                  <a:lnTo>
                    <a:pt x="3679914" y="757396"/>
                  </a:lnTo>
                  <a:lnTo>
                    <a:pt x="3739452" y="763514"/>
                  </a:lnTo>
                  <a:lnTo>
                    <a:pt x="3806439" y="769885"/>
                  </a:lnTo>
                  <a:lnTo>
                    <a:pt x="3881896" y="776762"/>
                  </a:lnTo>
                  <a:lnTo>
                    <a:pt x="3966845" y="784399"/>
                  </a:lnTo>
                  <a:lnTo>
                    <a:pt x="4041881" y="790591"/>
                  </a:lnTo>
                  <a:lnTo>
                    <a:pt x="4082800" y="793592"/>
                  </a:lnTo>
                  <a:lnTo>
                    <a:pt x="4125820" y="796531"/>
                  </a:lnTo>
                  <a:lnTo>
                    <a:pt x="4170817" y="799409"/>
                  </a:lnTo>
                  <a:lnTo>
                    <a:pt x="4217665" y="802227"/>
                  </a:lnTo>
                  <a:lnTo>
                    <a:pt x="4266241" y="804986"/>
                  </a:lnTo>
                  <a:lnTo>
                    <a:pt x="4316419" y="807687"/>
                  </a:lnTo>
                  <a:lnTo>
                    <a:pt x="4368074" y="810330"/>
                  </a:lnTo>
                  <a:lnTo>
                    <a:pt x="4421083" y="812918"/>
                  </a:lnTo>
                  <a:lnTo>
                    <a:pt x="4475320" y="815451"/>
                  </a:lnTo>
                  <a:lnTo>
                    <a:pt x="4530661" y="817929"/>
                  </a:lnTo>
                  <a:lnTo>
                    <a:pt x="4586981" y="820355"/>
                  </a:lnTo>
                  <a:lnTo>
                    <a:pt x="4644156" y="822728"/>
                  </a:lnTo>
                  <a:lnTo>
                    <a:pt x="4702060" y="825051"/>
                  </a:lnTo>
                  <a:lnTo>
                    <a:pt x="4760570" y="827323"/>
                  </a:lnTo>
                  <a:lnTo>
                    <a:pt x="4819560" y="829546"/>
                  </a:lnTo>
                  <a:lnTo>
                    <a:pt x="4878905" y="831722"/>
                  </a:lnTo>
                  <a:lnTo>
                    <a:pt x="4938483" y="833850"/>
                  </a:lnTo>
                  <a:lnTo>
                    <a:pt x="4998166" y="835932"/>
                  </a:lnTo>
                  <a:lnTo>
                    <a:pt x="5057832" y="837970"/>
                  </a:lnTo>
                  <a:lnTo>
                    <a:pt x="5117354" y="839963"/>
                  </a:lnTo>
                  <a:lnTo>
                    <a:pt x="5176609" y="841913"/>
                  </a:lnTo>
                  <a:lnTo>
                    <a:pt x="5235473" y="843821"/>
                  </a:lnTo>
                  <a:lnTo>
                    <a:pt x="5293819" y="845688"/>
                  </a:lnTo>
                  <a:lnTo>
                    <a:pt x="5351524" y="847515"/>
                  </a:lnTo>
                  <a:lnTo>
                    <a:pt x="5408463" y="849303"/>
                  </a:lnTo>
                  <a:lnTo>
                    <a:pt x="5464511" y="851053"/>
                  </a:lnTo>
                  <a:lnTo>
                    <a:pt x="5519543" y="852766"/>
                  </a:lnTo>
                  <a:lnTo>
                    <a:pt x="5573436" y="854443"/>
                  </a:lnTo>
                  <a:lnTo>
                    <a:pt x="5626064" y="856085"/>
                  </a:lnTo>
                  <a:lnTo>
                    <a:pt x="5677303" y="857693"/>
                  </a:lnTo>
                  <a:lnTo>
                    <a:pt x="5727027" y="859268"/>
                  </a:lnTo>
                  <a:lnTo>
                    <a:pt x="5775113" y="860811"/>
                  </a:lnTo>
                  <a:lnTo>
                    <a:pt x="5821435" y="862322"/>
                  </a:lnTo>
                  <a:lnTo>
                    <a:pt x="5865870" y="863804"/>
                  </a:lnTo>
                  <a:lnTo>
                    <a:pt x="5908292" y="865257"/>
                  </a:lnTo>
                  <a:lnTo>
                    <a:pt x="5948576" y="866681"/>
                  </a:lnTo>
                  <a:lnTo>
                    <a:pt x="6022235" y="869451"/>
                  </a:lnTo>
                  <a:lnTo>
                    <a:pt x="6055360" y="870797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87899" y="2367279"/>
              <a:ext cx="2811780" cy="3644900"/>
            </a:xfrm>
            <a:custGeom>
              <a:avLst/>
              <a:gdLst/>
              <a:ahLst/>
              <a:cxnLst/>
              <a:rect l="l" t="t" r="r" b="b"/>
              <a:pathLst>
                <a:path w="2811779" h="3644900">
                  <a:moveTo>
                    <a:pt x="0" y="3644900"/>
                  </a:moveTo>
                  <a:lnTo>
                    <a:pt x="62048" y="3630020"/>
                  </a:lnTo>
                  <a:lnTo>
                    <a:pt x="101254" y="3621390"/>
                  </a:lnTo>
                  <a:lnTo>
                    <a:pt x="145061" y="3611944"/>
                  </a:lnTo>
                  <a:lnTo>
                    <a:pt x="192832" y="3601665"/>
                  </a:lnTo>
                  <a:lnTo>
                    <a:pt x="243927" y="3590536"/>
                  </a:lnTo>
                  <a:lnTo>
                    <a:pt x="297708" y="3578540"/>
                  </a:lnTo>
                  <a:lnTo>
                    <a:pt x="353536" y="3565661"/>
                  </a:lnTo>
                  <a:lnTo>
                    <a:pt x="410771" y="3551881"/>
                  </a:lnTo>
                  <a:lnTo>
                    <a:pt x="468776" y="3537184"/>
                  </a:lnTo>
                  <a:lnTo>
                    <a:pt x="526911" y="3521553"/>
                  </a:lnTo>
                  <a:lnTo>
                    <a:pt x="584537" y="3504971"/>
                  </a:lnTo>
                  <a:lnTo>
                    <a:pt x="641016" y="3487421"/>
                  </a:lnTo>
                  <a:lnTo>
                    <a:pt x="695708" y="3468887"/>
                  </a:lnTo>
                  <a:lnTo>
                    <a:pt x="747975" y="3449351"/>
                  </a:lnTo>
                  <a:lnTo>
                    <a:pt x="797178" y="3428796"/>
                  </a:lnTo>
                  <a:lnTo>
                    <a:pt x="837158" y="3411935"/>
                  </a:lnTo>
                  <a:lnTo>
                    <a:pt x="877176" y="3396566"/>
                  </a:lnTo>
                  <a:lnTo>
                    <a:pt x="917188" y="3382279"/>
                  </a:lnTo>
                  <a:lnTo>
                    <a:pt x="957146" y="3368666"/>
                  </a:lnTo>
                  <a:lnTo>
                    <a:pt x="997007" y="3355320"/>
                  </a:lnTo>
                  <a:lnTo>
                    <a:pt x="1036724" y="3341831"/>
                  </a:lnTo>
                  <a:lnTo>
                    <a:pt x="1076251" y="3327792"/>
                  </a:lnTo>
                  <a:lnTo>
                    <a:pt x="1115543" y="3312794"/>
                  </a:lnTo>
                  <a:lnTo>
                    <a:pt x="1154554" y="3296429"/>
                  </a:lnTo>
                  <a:lnTo>
                    <a:pt x="1193239" y="3278288"/>
                  </a:lnTo>
                  <a:lnTo>
                    <a:pt x="1231551" y="3257963"/>
                  </a:lnTo>
                  <a:lnTo>
                    <a:pt x="1269446" y="3235045"/>
                  </a:lnTo>
                  <a:lnTo>
                    <a:pt x="1306877" y="3209127"/>
                  </a:lnTo>
                  <a:lnTo>
                    <a:pt x="1343799" y="3179800"/>
                  </a:lnTo>
                  <a:lnTo>
                    <a:pt x="1380166" y="3146655"/>
                  </a:lnTo>
                  <a:lnTo>
                    <a:pt x="1415933" y="3109285"/>
                  </a:lnTo>
                  <a:lnTo>
                    <a:pt x="1451053" y="3067280"/>
                  </a:lnTo>
                  <a:lnTo>
                    <a:pt x="1485482" y="3020233"/>
                  </a:lnTo>
                  <a:lnTo>
                    <a:pt x="1519174" y="2967736"/>
                  </a:lnTo>
                  <a:lnTo>
                    <a:pt x="1555947" y="2900850"/>
                  </a:lnTo>
                  <a:lnTo>
                    <a:pt x="1574020" y="2863846"/>
                  </a:lnTo>
                  <a:lnTo>
                    <a:pt x="1591890" y="2824653"/>
                  </a:lnTo>
                  <a:lnTo>
                    <a:pt x="1609565" y="2783413"/>
                  </a:lnTo>
                  <a:lnTo>
                    <a:pt x="1627049" y="2740264"/>
                  </a:lnTo>
                  <a:lnTo>
                    <a:pt x="1644349" y="2695347"/>
                  </a:lnTo>
                  <a:lnTo>
                    <a:pt x="1661469" y="2648802"/>
                  </a:lnTo>
                  <a:lnTo>
                    <a:pt x="1678416" y="2600768"/>
                  </a:lnTo>
                  <a:lnTo>
                    <a:pt x="1695196" y="2551386"/>
                  </a:lnTo>
                  <a:lnTo>
                    <a:pt x="1711813" y="2500795"/>
                  </a:lnTo>
                  <a:lnTo>
                    <a:pt x="1728274" y="2449135"/>
                  </a:lnTo>
                  <a:lnTo>
                    <a:pt x="1744584" y="2396546"/>
                  </a:lnTo>
                  <a:lnTo>
                    <a:pt x="1760749" y="2343169"/>
                  </a:lnTo>
                  <a:lnTo>
                    <a:pt x="1776775" y="2289142"/>
                  </a:lnTo>
                  <a:lnTo>
                    <a:pt x="1792668" y="2234606"/>
                  </a:lnTo>
                  <a:lnTo>
                    <a:pt x="1808432" y="2179701"/>
                  </a:lnTo>
                  <a:lnTo>
                    <a:pt x="1824074" y="2124566"/>
                  </a:lnTo>
                  <a:lnTo>
                    <a:pt x="1839599" y="2069342"/>
                  </a:lnTo>
                  <a:lnTo>
                    <a:pt x="1855014" y="2014168"/>
                  </a:lnTo>
                  <a:lnTo>
                    <a:pt x="1870323" y="1959184"/>
                  </a:lnTo>
                  <a:lnTo>
                    <a:pt x="1885533" y="1904531"/>
                  </a:lnTo>
                  <a:lnTo>
                    <a:pt x="1900649" y="1850348"/>
                  </a:lnTo>
                  <a:lnTo>
                    <a:pt x="1915677" y="1796775"/>
                  </a:lnTo>
                  <a:lnTo>
                    <a:pt x="1930622" y="1743952"/>
                  </a:lnTo>
                  <a:lnTo>
                    <a:pt x="1945490" y="1692018"/>
                  </a:lnTo>
                  <a:lnTo>
                    <a:pt x="1960287" y="1641115"/>
                  </a:lnTo>
                  <a:lnTo>
                    <a:pt x="1975019" y="1591380"/>
                  </a:lnTo>
                  <a:lnTo>
                    <a:pt x="1989691" y="1542956"/>
                  </a:lnTo>
                  <a:lnTo>
                    <a:pt x="2004309" y="1495981"/>
                  </a:lnTo>
                  <a:lnTo>
                    <a:pt x="2018878" y="1450595"/>
                  </a:lnTo>
                  <a:lnTo>
                    <a:pt x="2033405" y="1406938"/>
                  </a:lnTo>
                  <a:lnTo>
                    <a:pt x="2047894" y="1365150"/>
                  </a:lnTo>
                  <a:lnTo>
                    <a:pt x="2062352" y="1325372"/>
                  </a:lnTo>
                  <a:lnTo>
                    <a:pt x="2085639" y="1263383"/>
                  </a:lnTo>
                  <a:lnTo>
                    <a:pt x="2108754" y="1202823"/>
                  </a:lnTo>
                  <a:lnTo>
                    <a:pt x="2131689" y="1143699"/>
                  </a:lnTo>
                  <a:lnTo>
                    <a:pt x="2154434" y="1086015"/>
                  </a:lnTo>
                  <a:lnTo>
                    <a:pt x="2176978" y="1029778"/>
                  </a:lnTo>
                  <a:lnTo>
                    <a:pt x="2199313" y="974994"/>
                  </a:lnTo>
                  <a:lnTo>
                    <a:pt x="2221427" y="921667"/>
                  </a:lnTo>
                  <a:lnTo>
                    <a:pt x="2243312" y="869803"/>
                  </a:lnTo>
                  <a:lnTo>
                    <a:pt x="2264957" y="819409"/>
                  </a:lnTo>
                  <a:lnTo>
                    <a:pt x="2286352" y="770490"/>
                  </a:lnTo>
                  <a:lnTo>
                    <a:pt x="2307488" y="723051"/>
                  </a:lnTo>
                  <a:lnTo>
                    <a:pt x="2328355" y="677098"/>
                  </a:lnTo>
                  <a:lnTo>
                    <a:pt x="2348942" y="632638"/>
                  </a:lnTo>
                  <a:lnTo>
                    <a:pt x="2369241" y="589675"/>
                  </a:lnTo>
                  <a:lnTo>
                    <a:pt x="2389241" y="548215"/>
                  </a:lnTo>
                  <a:lnTo>
                    <a:pt x="2408931" y="508264"/>
                  </a:lnTo>
                  <a:lnTo>
                    <a:pt x="2428303" y="469828"/>
                  </a:lnTo>
                  <a:lnTo>
                    <a:pt x="2447347" y="432912"/>
                  </a:lnTo>
                  <a:lnTo>
                    <a:pt x="2466052" y="397522"/>
                  </a:lnTo>
                  <a:lnTo>
                    <a:pt x="2484409" y="363663"/>
                  </a:lnTo>
                  <a:lnTo>
                    <a:pt x="2543702" y="264091"/>
                  </a:lnTo>
                  <a:lnTo>
                    <a:pt x="2584247" y="208434"/>
                  </a:lnTo>
                  <a:lnTo>
                    <a:pt x="2623622" y="162663"/>
                  </a:lnTo>
                  <a:lnTo>
                    <a:pt x="2661407" y="125070"/>
                  </a:lnTo>
                  <a:lnTo>
                    <a:pt x="2697183" y="93947"/>
                  </a:lnTo>
                  <a:lnTo>
                    <a:pt x="2730528" y="67587"/>
                  </a:lnTo>
                  <a:lnTo>
                    <a:pt x="2761022" y="44281"/>
                  </a:lnTo>
                  <a:lnTo>
                    <a:pt x="2788246" y="22321"/>
                  </a:lnTo>
                  <a:lnTo>
                    <a:pt x="2811779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17519" y="4256750"/>
              <a:ext cx="4513580" cy="1741170"/>
            </a:xfrm>
            <a:custGeom>
              <a:avLst/>
              <a:gdLst/>
              <a:ahLst/>
              <a:cxnLst/>
              <a:rect l="l" t="t" r="r" b="b"/>
              <a:pathLst>
                <a:path w="4513580" h="1741170">
                  <a:moveTo>
                    <a:pt x="0" y="1726397"/>
                  </a:moveTo>
                  <a:lnTo>
                    <a:pt x="54319" y="1706824"/>
                  </a:lnTo>
                  <a:lnTo>
                    <a:pt x="122723" y="1684680"/>
                  </a:lnTo>
                  <a:lnTo>
                    <a:pt x="161584" y="1672645"/>
                  </a:lnTo>
                  <a:lnTo>
                    <a:pt x="203218" y="1659970"/>
                  </a:lnTo>
                  <a:lnTo>
                    <a:pt x="247377" y="1646655"/>
                  </a:lnTo>
                  <a:lnTo>
                    <a:pt x="293811" y="1632700"/>
                  </a:lnTo>
                  <a:lnTo>
                    <a:pt x="342271" y="1618107"/>
                  </a:lnTo>
                  <a:lnTo>
                    <a:pt x="392509" y="1602875"/>
                  </a:lnTo>
                  <a:lnTo>
                    <a:pt x="444274" y="1587007"/>
                  </a:lnTo>
                  <a:lnTo>
                    <a:pt x="497318" y="1570502"/>
                  </a:lnTo>
                  <a:lnTo>
                    <a:pt x="551392" y="1553361"/>
                  </a:lnTo>
                  <a:lnTo>
                    <a:pt x="606246" y="1535585"/>
                  </a:lnTo>
                  <a:lnTo>
                    <a:pt x="661632" y="1517174"/>
                  </a:lnTo>
                  <a:lnTo>
                    <a:pt x="717300" y="1498130"/>
                  </a:lnTo>
                  <a:lnTo>
                    <a:pt x="773001" y="1478453"/>
                  </a:lnTo>
                  <a:lnTo>
                    <a:pt x="828486" y="1458143"/>
                  </a:lnTo>
                  <a:lnTo>
                    <a:pt x="883506" y="1437202"/>
                  </a:lnTo>
                  <a:lnTo>
                    <a:pt x="937812" y="1415630"/>
                  </a:lnTo>
                  <a:lnTo>
                    <a:pt x="991154" y="1393427"/>
                  </a:lnTo>
                  <a:lnTo>
                    <a:pt x="1043283" y="1370595"/>
                  </a:lnTo>
                  <a:lnTo>
                    <a:pt x="1093951" y="1347134"/>
                  </a:lnTo>
                  <a:lnTo>
                    <a:pt x="1142908" y="1323045"/>
                  </a:lnTo>
                  <a:lnTo>
                    <a:pt x="1189906" y="1298328"/>
                  </a:lnTo>
                  <a:lnTo>
                    <a:pt x="1234694" y="1272984"/>
                  </a:lnTo>
                  <a:lnTo>
                    <a:pt x="1277023" y="1247015"/>
                  </a:lnTo>
                  <a:lnTo>
                    <a:pt x="1316646" y="1220420"/>
                  </a:lnTo>
                  <a:lnTo>
                    <a:pt x="1353312" y="1193200"/>
                  </a:lnTo>
                  <a:lnTo>
                    <a:pt x="1391581" y="1160931"/>
                  </a:lnTo>
                  <a:lnTo>
                    <a:pt x="1428114" y="1125712"/>
                  </a:lnTo>
                  <a:lnTo>
                    <a:pt x="1463008" y="1087824"/>
                  </a:lnTo>
                  <a:lnTo>
                    <a:pt x="1496360" y="1047548"/>
                  </a:lnTo>
                  <a:lnTo>
                    <a:pt x="1528265" y="1005166"/>
                  </a:lnTo>
                  <a:lnTo>
                    <a:pt x="1558822" y="960959"/>
                  </a:lnTo>
                  <a:lnTo>
                    <a:pt x="1588126" y="915209"/>
                  </a:lnTo>
                  <a:lnTo>
                    <a:pt x="1616275" y="868196"/>
                  </a:lnTo>
                  <a:lnTo>
                    <a:pt x="1643366" y="820203"/>
                  </a:lnTo>
                  <a:lnTo>
                    <a:pt x="1669494" y="771510"/>
                  </a:lnTo>
                  <a:lnTo>
                    <a:pt x="1694757" y="722399"/>
                  </a:lnTo>
                  <a:lnTo>
                    <a:pt x="1719252" y="673152"/>
                  </a:lnTo>
                  <a:lnTo>
                    <a:pt x="1743074" y="624049"/>
                  </a:lnTo>
                  <a:lnTo>
                    <a:pt x="1766323" y="575373"/>
                  </a:lnTo>
                  <a:lnTo>
                    <a:pt x="1789093" y="527404"/>
                  </a:lnTo>
                  <a:lnTo>
                    <a:pt x="1811481" y="480423"/>
                  </a:lnTo>
                  <a:lnTo>
                    <a:pt x="1833585" y="434713"/>
                  </a:lnTo>
                  <a:lnTo>
                    <a:pt x="1855502" y="390555"/>
                  </a:lnTo>
                  <a:lnTo>
                    <a:pt x="1877327" y="348229"/>
                  </a:lnTo>
                  <a:lnTo>
                    <a:pt x="1899158" y="308018"/>
                  </a:lnTo>
                  <a:lnTo>
                    <a:pt x="1921091" y="270202"/>
                  </a:lnTo>
                  <a:lnTo>
                    <a:pt x="1943224" y="235064"/>
                  </a:lnTo>
                  <a:lnTo>
                    <a:pt x="1965653" y="202884"/>
                  </a:lnTo>
                  <a:lnTo>
                    <a:pt x="2011785" y="148524"/>
                  </a:lnTo>
                  <a:lnTo>
                    <a:pt x="2077200" y="95023"/>
                  </a:lnTo>
                  <a:lnTo>
                    <a:pt x="2117846" y="67484"/>
                  </a:lnTo>
                  <a:lnTo>
                    <a:pt x="2157722" y="44434"/>
                  </a:lnTo>
                  <a:lnTo>
                    <a:pt x="2196930" y="26018"/>
                  </a:lnTo>
                  <a:lnTo>
                    <a:pt x="2235571" y="12377"/>
                  </a:lnTo>
                  <a:lnTo>
                    <a:pt x="2273746" y="3657"/>
                  </a:lnTo>
                  <a:lnTo>
                    <a:pt x="2311555" y="0"/>
                  </a:lnTo>
                  <a:lnTo>
                    <a:pt x="2349100" y="1549"/>
                  </a:lnTo>
                  <a:lnTo>
                    <a:pt x="2423804" y="20839"/>
                  </a:lnTo>
                  <a:lnTo>
                    <a:pt x="2461164" y="38868"/>
                  </a:lnTo>
                  <a:lnTo>
                    <a:pt x="2498666" y="62676"/>
                  </a:lnTo>
                  <a:lnTo>
                    <a:pt x="2536409" y="92408"/>
                  </a:lnTo>
                  <a:lnTo>
                    <a:pt x="2574494" y="128206"/>
                  </a:lnTo>
                  <a:lnTo>
                    <a:pt x="2613025" y="170215"/>
                  </a:lnTo>
                  <a:lnTo>
                    <a:pt x="2650333" y="222987"/>
                  </a:lnTo>
                  <a:lnTo>
                    <a:pt x="2685160" y="289656"/>
                  </a:lnTo>
                  <a:lnTo>
                    <a:pt x="2701841" y="327556"/>
                  </a:lnTo>
                  <a:lnTo>
                    <a:pt x="2718140" y="368157"/>
                  </a:lnTo>
                  <a:lnTo>
                    <a:pt x="2734136" y="411199"/>
                  </a:lnTo>
                  <a:lnTo>
                    <a:pt x="2749908" y="456424"/>
                  </a:lnTo>
                  <a:lnTo>
                    <a:pt x="2765535" y="503575"/>
                  </a:lnTo>
                  <a:lnTo>
                    <a:pt x="2781097" y="552394"/>
                  </a:lnTo>
                  <a:lnTo>
                    <a:pt x="2796674" y="602621"/>
                  </a:lnTo>
                  <a:lnTo>
                    <a:pt x="2812343" y="654000"/>
                  </a:lnTo>
                  <a:lnTo>
                    <a:pt x="2828186" y="706272"/>
                  </a:lnTo>
                  <a:lnTo>
                    <a:pt x="2844280" y="759179"/>
                  </a:lnTo>
                  <a:lnTo>
                    <a:pt x="2860706" y="812463"/>
                  </a:lnTo>
                  <a:lnTo>
                    <a:pt x="2877543" y="865866"/>
                  </a:lnTo>
                  <a:lnTo>
                    <a:pt x="2894869" y="919130"/>
                  </a:lnTo>
                  <a:lnTo>
                    <a:pt x="2912765" y="971996"/>
                  </a:lnTo>
                  <a:lnTo>
                    <a:pt x="2931309" y="1024206"/>
                  </a:lnTo>
                  <a:lnTo>
                    <a:pt x="2950581" y="1075503"/>
                  </a:lnTo>
                  <a:lnTo>
                    <a:pt x="2970660" y="1125628"/>
                  </a:lnTo>
                  <a:lnTo>
                    <a:pt x="2991626" y="1174323"/>
                  </a:lnTo>
                  <a:lnTo>
                    <a:pt x="3013557" y="1221331"/>
                  </a:lnTo>
                  <a:lnTo>
                    <a:pt x="3036534" y="1266392"/>
                  </a:lnTo>
                  <a:lnTo>
                    <a:pt x="3060635" y="1309249"/>
                  </a:lnTo>
                  <a:lnTo>
                    <a:pt x="3085939" y="1349644"/>
                  </a:lnTo>
                  <a:lnTo>
                    <a:pt x="3112527" y="1387319"/>
                  </a:lnTo>
                  <a:lnTo>
                    <a:pt x="3140477" y="1422015"/>
                  </a:lnTo>
                  <a:lnTo>
                    <a:pt x="3169868" y="1453474"/>
                  </a:lnTo>
                  <a:lnTo>
                    <a:pt x="3200781" y="1481439"/>
                  </a:lnTo>
                  <a:lnTo>
                    <a:pt x="3236256" y="1508241"/>
                  </a:lnTo>
                  <a:lnTo>
                    <a:pt x="3274599" y="1532733"/>
                  </a:lnTo>
                  <a:lnTo>
                    <a:pt x="3315577" y="1555032"/>
                  </a:lnTo>
                  <a:lnTo>
                    <a:pt x="3358956" y="1575255"/>
                  </a:lnTo>
                  <a:lnTo>
                    <a:pt x="3404503" y="1593519"/>
                  </a:lnTo>
                  <a:lnTo>
                    <a:pt x="3451985" y="1609939"/>
                  </a:lnTo>
                  <a:lnTo>
                    <a:pt x="3501167" y="1624632"/>
                  </a:lnTo>
                  <a:lnTo>
                    <a:pt x="3551817" y="1637716"/>
                  </a:lnTo>
                  <a:lnTo>
                    <a:pt x="3603702" y="1649306"/>
                  </a:lnTo>
                  <a:lnTo>
                    <a:pt x="3656587" y="1659519"/>
                  </a:lnTo>
                  <a:lnTo>
                    <a:pt x="3710240" y="1668472"/>
                  </a:lnTo>
                  <a:lnTo>
                    <a:pt x="3764426" y="1676281"/>
                  </a:lnTo>
                  <a:lnTo>
                    <a:pt x="3818913" y="1683063"/>
                  </a:lnTo>
                  <a:lnTo>
                    <a:pt x="3873468" y="1688935"/>
                  </a:lnTo>
                  <a:lnTo>
                    <a:pt x="3927856" y="1694012"/>
                  </a:lnTo>
                  <a:lnTo>
                    <a:pt x="3981845" y="1698413"/>
                  </a:lnTo>
                  <a:lnTo>
                    <a:pt x="4035200" y="1702252"/>
                  </a:lnTo>
                  <a:lnTo>
                    <a:pt x="4087689" y="1705647"/>
                  </a:lnTo>
                  <a:lnTo>
                    <a:pt x="4139079" y="1708714"/>
                  </a:lnTo>
                  <a:lnTo>
                    <a:pt x="4189135" y="1711571"/>
                  </a:lnTo>
                  <a:lnTo>
                    <a:pt x="4237624" y="1714332"/>
                  </a:lnTo>
                  <a:lnTo>
                    <a:pt x="4284314" y="1717116"/>
                  </a:lnTo>
                  <a:lnTo>
                    <a:pt x="4328970" y="1720039"/>
                  </a:lnTo>
                  <a:lnTo>
                    <a:pt x="4371359" y="1723217"/>
                  </a:lnTo>
                  <a:lnTo>
                    <a:pt x="4411248" y="1726766"/>
                  </a:lnTo>
                  <a:lnTo>
                    <a:pt x="4482592" y="1735447"/>
                  </a:lnTo>
                  <a:lnTo>
                    <a:pt x="4513580" y="1740811"/>
                  </a:lnTo>
                </a:path>
              </a:pathLst>
            </a:custGeom>
            <a:ln w="15874">
              <a:solidFill>
                <a:srgbClr val="33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75957" y="1718373"/>
            <a:ext cx="1520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Concentración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68290" y="3731895"/>
            <a:ext cx="6997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Nitrito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75739" y="5079746"/>
            <a:ext cx="8369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Amonio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18451" y="6039802"/>
            <a:ext cx="462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Calibri"/>
                <a:cs typeface="Calibri"/>
              </a:rPr>
              <a:t>Días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65494" y="2234247"/>
            <a:ext cx="756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Nitrato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54269"/>
            <a:ext cx="5105399" cy="37337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89854" y="2052320"/>
            <a:ext cx="3450590" cy="2475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29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10%</a:t>
            </a:r>
            <a:r>
              <a:rPr dirty="0" sz="1600" spc="30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del</a:t>
            </a:r>
            <a:r>
              <a:rPr dirty="0" sz="1600" spc="30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peso</a:t>
            </a:r>
            <a:r>
              <a:rPr dirty="0" sz="1600" spc="30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seco</a:t>
            </a:r>
            <a:r>
              <a:rPr dirty="0" sz="1600" spc="30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corresponde</a:t>
            </a:r>
            <a:r>
              <a:rPr dirty="0" sz="1600" spc="30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bacterias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y</a:t>
            </a:r>
            <a:r>
              <a:rPr dirty="0" sz="1600" spc="-2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90%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exopolisacáridos.</a:t>
            </a:r>
            <a:endParaRPr sz="16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243204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	Solo</a:t>
            </a:r>
            <a:r>
              <a:rPr dirty="0" sz="1600" spc="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</a:t>
            </a:r>
            <a:r>
              <a:rPr dirty="0" sz="1600" spc="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biomasa</a:t>
            </a:r>
            <a:r>
              <a:rPr dirty="0" sz="1600" spc="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activa</a:t>
            </a:r>
            <a:r>
              <a:rPr dirty="0" sz="1600" spc="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del</a:t>
            </a:r>
            <a:r>
              <a:rPr dirty="0" sz="1600" spc="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biofilm</a:t>
            </a:r>
            <a:r>
              <a:rPr dirty="0" sz="1600" spc="2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</a:t>
            </a:r>
            <a:r>
              <a:rPr dirty="0" sz="1600" spc="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la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encargada</a:t>
            </a:r>
            <a:r>
              <a:rPr dirty="0" sz="1600" spc="95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10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llevar</a:t>
            </a:r>
            <a:r>
              <a:rPr dirty="0" sz="1600" spc="10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r>
              <a:rPr dirty="0" sz="1600" spc="95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cabo</a:t>
            </a:r>
            <a:r>
              <a:rPr dirty="0" sz="1600" spc="10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</a:t>
            </a:r>
            <a:r>
              <a:rPr dirty="0" sz="1600" spc="95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 spc="-20">
                <a:solidFill>
                  <a:srgbClr val="001279"/>
                </a:solidFill>
                <a:latin typeface="Calibri"/>
                <a:cs typeface="Calibri"/>
              </a:rPr>
              <a:t>bio-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oxidación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-1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amonio</a:t>
            </a:r>
            <a:r>
              <a:rPr dirty="0" sz="1600" spc="-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y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nitrito.</a:t>
            </a:r>
            <a:endParaRPr sz="1600">
              <a:latin typeface="Calibri"/>
              <a:cs typeface="Calibri"/>
            </a:endParaRPr>
          </a:p>
          <a:p>
            <a:pPr algn="just" marL="241300" marR="5715" indent="-22860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243204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	Las</a:t>
            </a:r>
            <a:r>
              <a:rPr dirty="0" sz="1600" spc="16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bacterias</a:t>
            </a:r>
            <a:r>
              <a:rPr dirty="0" sz="1600" spc="1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oxidantes</a:t>
            </a:r>
            <a:r>
              <a:rPr dirty="0" sz="1600" spc="1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17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amonio</a:t>
            </a:r>
            <a:r>
              <a:rPr dirty="0" sz="1600" spc="1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se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encuentran</a:t>
            </a:r>
            <a:r>
              <a:rPr dirty="0" sz="1600" spc="2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r>
              <a:rPr dirty="0" sz="1600" spc="2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lo</a:t>
            </a:r>
            <a:r>
              <a:rPr dirty="0" sz="1600" spc="26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largo</a:t>
            </a:r>
            <a:r>
              <a:rPr dirty="0" sz="1600" spc="26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del</a:t>
            </a:r>
            <a:r>
              <a:rPr dirty="0" sz="1600" spc="24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biofilm,</a:t>
            </a:r>
            <a:r>
              <a:rPr dirty="0" sz="1600" spc="2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en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cambio</a:t>
            </a:r>
            <a:r>
              <a:rPr dirty="0" sz="1600" spc="135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las</a:t>
            </a:r>
            <a:r>
              <a:rPr dirty="0" sz="1600" spc="15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oxidantes</a:t>
            </a:r>
            <a:r>
              <a:rPr dirty="0" sz="1600" spc="14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145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nitrito</a:t>
            </a:r>
            <a:r>
              <a:rPr dirty="0" sz="1600" spc="140">
                <a:solidFill>
                  <a:srgbClr val="001279"/>
                </a:solidFill>
                <a:latin typeface="Calibri"/>
                <a:cs typeface="Calibri"/>
              </a:rPr>
              <a:t> 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se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encuentran</a:t>
            </a:r>
            <a:r>
              <a:rPr dirty="0" sz="1600" spc="-4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mas</a:t>
            </a:r>
            <a:r>
              <a:rPr dirty="0" sz="1600" spc="-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al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interior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del</a:t>
            </a:r>
            <a:r>
              <a:rPr dirty="0" sz="1600" spc="-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biofilm.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660" y="1125219"/>
            <a:ext cx="5976620" cy="5044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8290" y="6193154"/>
            <a:ext cx="1938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Biomedio</a:t>
            </a:r>
            <a:r>
              <a:rPr dirty="0" sz="2400" spc="-25" b="1">
                <a:latin typeface="Arial"/>
                <a:cs typeface="Arial"/>
              </a:rPr>
              <a:t> RK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700" y="1412239"/>
            <a:ext cx="6060440" cy="4546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8290" y="6193154"/>
            <a:ext cx="1938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Biomedio</a:t>
            </a:r>
            <a:r>
              <a:rPr dirty="0" sz="2400" spc="-25" b="1">
                <a:latin typeface="Arial"/>
                <a:cs typeface="Arial"/>
              </a:rPr>
              <a:t> RK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319" y="1300480"/>
            <a:ext cx="6047739" cy="4536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220" y="1379219"/>
            <a:ext cx="5786120" cy="434085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395090" y="6193154"/>
            <a:ext cx="2343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Edad: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7-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10</a:t>
            </a:r>
            <a:r>
              <a:rPr dirty="0" sz="2400" spc="-20" b="1">
                <a:latin typeface="Arial"/>
                <a:cs typeface="Arial"/>
              </a:rPr>
              <a:t> días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3860" y="1404619"/>
            <a:ext cx="5725160" cy="42926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308603" y="6193154"/>
            <a:ext cx="25158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Edad: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2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semanas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Fases</a:t>
            </a:r>
            <a:r>
              <a:rPr dirty="0" spc="-4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Biofilm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739" y="1422400"/>
            <a:ext cx="5676900" cy="425704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953004" y="6193154"/>
            <a:ext cx="3228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Edad: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varias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semanas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9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Manejo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Biofiltros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3052" y="4744720"/>
            <a:ext cx="8488680" cy="18091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620" indent="141605">
              <a:lnSpc>
                <a:spcPct val="100000"/>
              </a:lnSpc>
              <a:spcBef>
                <a:spcPts val="10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limpieza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Biofiltros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debe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hacerse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cada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semanas por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cámara.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es </a:t>
            </a:r>
            <a:r>
              <a:rPr dirty="0" sz="1800">
                <a:latin typeface="Arial MT"/>
                <a:cs typeface="Arial MT"/>
              </a:rPr>
              <a:t>muy</a:t>
            </a:r>
            <a:r>
              <a:rPr dirty="0" sz="1800" spc="3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importante</a:t>
            </a:r>
            <a:r>
              <a:rPr dirty="0" sz="1800" spc="40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40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remover</a:t>
            </a:r>
            <a:r>
              <a:rPr dirty="0" sz="1800" spc="4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4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bacterias</a:t>
            </a:r>
            <a:r>
              <a:rPr dirty="0" sz="1800" spc="409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más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antiguas</a:t>
            </a:r>
            <a:r>
              <a:rPr dirty="0" sz="1800" spc="4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</a:t>
            </a:r>
            <a:r>
              <a:rPr dirty="0" sz="1800" spc="3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así</a:t>
            </a:r>
            <a:r>
              <a:rPr dirty="0" sz="1800" spc="4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renovar</a:t>
            </a:r>
            <a:r>
              <a:rPr dirty="0" sz="1800" spc="4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4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film </a:t>
            </a:r>
            <a:r>
              <a:rPr dirty="0" sz="1800" spc="-10">
                <a:latin typeface="Arial MT"/>
                <a:cs typeface="Arial MT"/>
              </a:rPr>
              <a:t>bacteriano.</a:t>
            </a:r>
            <a:endParaRPr sz="1800">
              <a:latin typeface="Arial MT"/>
              <a:cs typeface="Arial MT"/>
            </a:endParaRPr>
          </a:p>
          <a:p>
            <a:pPr algn="just" marL="12700" marR="5080" indent="141605">
              <a:lnSpc>
                <a:spcPct val="100000"/>
              </a:lnSpc>
              <a:spcBef>
                <a:spcPts val="108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importante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considerar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manejo</a:t>
            </a:r>
            <a:r>
              <a:rPr dirty="0" sz="1800" spc="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peces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debe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respetuoso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1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la </a:t>
            </a:r>
            <a:r>
              <a:rPr dirty="0" sz="1800">
                <a:latin typeface="Arial MT"/>
                <a:cs typeface="Arial MT"/>
              </a:rPr>
              <a:t>actividad</a:t>
            </a:r>
            <a:r>
              <a:rPr dirty="0" sz="1800" spc="1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bacteriana.</a:t>
            </a:r>
            <a:r>
              <a:rPr dirty="0" sz="1800" spc="1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</a:t>
            </a:r>
            <a:r>
              <a:rPr dirty="0" sz="1800" spc="1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pueden</a:t>
            </a:r>
            <a:r>
              <a:rPr dirty="0" sz="1800" spc="1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hacerse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manejos</a:t>
            </a:r>
            <a:r>
              <a:rPr dirty="0" sz="1800" spc="1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1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contengan</a:t>
            </a:r>
            <a:r>
              <a:rPr dirty="0" sz="1800" spc="1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algún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grado</a:t>
            </a:r>
            <a:r>
              <a:rPr dirty="0" sz="1800" spc="15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de </a:t>
            </a:r>
            <a:r>
              <a:rPr dirty="0" sz="1800">
                <a:latin typeface="Arial MT"/>
                <a:cs typeface="Arial MT"/>
              </a:rPr>
              <a:t>riesgo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Biofltros.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2320" y="980439"/>
            <a:ext cx="3815079" cy="34569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9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Manejo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Biofiltros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9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Manejo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Biofiltros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072763" y="2858799"/>
            <a:ext cx="1000760" cy="286385"/>
          </a:xfrm>
          <a:custGeom>
            <a:avLst/>
            <a:gdLst/>
            <a:ahLst/>
            <a:cxnLst/>
            <a:rect l="l" t="t" r="r" b="b"/>
            <a:pathLst>
              <a:path w="1000760" h="286385">
                <a:moveTo>
                  <a:pt x="819836" y="175296"/>
                </a:moveTo>
                <a:lnTo>
                  <a:pt x="730758" y="227046"/>
                </a:lnTo>
                <a:lnTo>
                  <a:pt x="721346" y="235458"/>
                </a:lnTo>
                <a:lnTo>
                  <a:pt x="716041" y="246429"/>
                </a:lnTo>
                <a:lnTo>
                  <a:pt x="715288" y="257806"/>
                </a:lnTo>
                <a:lnTo>
                  <a:pt x="715238" y="258568"/>
                </a:lnTo>
                <a:lnTo>
                  <a:pt x="719327" y="270480"/>
                </a:lnTo>
                <a:lnTo>
                  <a:pt x="727666" y="279892"/>
                </a:lnTo>
                <a:lnTo>
                  <a:pt x="738722" y="285255"/>
                </a:lnTo>
                <a:lnTo>
                  <a:pt x="739498" y="285255"/>
                </a:lnTo>
                <a:lnTo>
                  <a:pt x="750724" y="286000"/>
                </a:lnTo>
                <a:lnTo>
                  <a:pt x="762635" y="281910"/>
                </a:lnTo>
                <a:lnTo>
                  <a:pt x="945750" y="175484"/>
                </a:lnTo>
                <a:lnTo>
                  <a:pt x="819836" y="175296"/>
                </a:lnTo>
                <a:close/>
              </a:path>
              <a:path w="1000760" h="286385">
                <a:moveTo>
                  <a:pt x="249656" y="0"/>
                </a:moveTo>
                <a:lnTo>
                  <a:pt x="237744" y="4034"/>
                </a:lnTo>
                <a:lnTo>
                  <a:pt x="0" y="142210"/>
                </a:lnTo>
                <a:lnTo>
                  <a:pt x="237236" y="281148"/>
                </a:lnTo>
                <a:lnTo>
                  <a:pt x="249166" y="285255"/>
                </a:lnTo>
                <a:lnTo>
                  <a:pt x="261334" y="284481"/>
                </a:lnTo>
                <a:lnTo>
                  <a:pt x="272311" y="279183"/>
                </a:lnTo>
                <a:lnTo>
                  <a:pt x="280670" y="269718"/>
                </a:lnTo>
                <a:lnTo>
                  <a:pt x="284779" y="257806"/>
                </a:lnTo>
                <a:lnTo>
                  <a:pt x="284067" y="246429"/>
                </a:lnTo>
                <a:lnTo>
                  <a:pt x="284019" y="245667"/>
                </a:lnTo>
                <a:lnTo>
                  <a:pt x="278759" y="234696"/>
                </a:lnTo>
                <a:lnTo>
                  <a:pt x="269366" y="226284"/>
                </a:lnTo>
                <a:lnTo>
                  <a:pt x="180470" y="174274"/>
                </a:lnTo>
                <a:lnTo>
                  <a:pt x="62991" y="174087"/>
                </a:lnTo>
                <a:lnTo>
                  <a:pt x="62991" y="110587"/>
                </a:lnTo>
                <a:lnTo>
                  <a:pt x="180749" y="110587"/>
                </a:lnTo>
                <a:lnTo>
                  <a:pt x="269621" y="58898"/>
                </a:lnTo>
                <a:lnTo>
                  <a:pt x="279034" y="50559"/>
                </a:lnTo>
                <a:lnTo>
                  <a:pt x="284353" y="39625"/>
                </a:lnTo>
                <a:lnTo>
                  <a:pt x="285150" y="28138"/>
                </a:lnTo>
                <a:lnTo>
                  <a:pt x="285194" y="27501"/>
                </a:lnTo>
                <a:lnTo>
                  <a:pt x="281177" y="15591"/>
                </a:lnTo>
                <a:lnTo>
                  <a:pt x="272766" y="6123"/>
                </a:lnTo>
                <a:lnTo>
                  <a:pt x="261798" y="813"/>
                </a:lnTo>
                <a:lnTo>
                  <a:pt x="249656" y="0"/>
                </a:lnTo>
                <a:close/>
              </a:path>
              <a:path w="1000760" h="286385">
                <a:moveTo>
                  <a:pt x="874440" y="143574"/>
                </a:moveTo>
                <a:lnTo>
                  <a:pt x="819836" y="175296"/>
                </a:lnTo>
                <a:lnTo>
                  <a:pt x="937387" y="175484"/>
                </a:lnTo>
                <a:lnTo>
                  <a:pt x="937387" y="171039"/>
                </a:lnTo>
                <a:lnTo>
                  <a:pt x="921385" y="171039"/>
                </a:lnTo>
                <a:lnTo>
                  <a:pt x="874440" y="143574"/>
                </a:lnTo>
                <a:close/>
              </a:path>
              <a:path w="1000760" h="286385">
                <a:moveTo>
                  <a:pt x="751212" y="813"/>
                </a:moveTo>
                <a:lnTo>
                  <a:pt x="739044" y="1573"/>
                </a:lnTo>
                <a:lnTo>
                  <a:pt x="728067" y="6834"/>
                </a:lnTo>
                <a:lnTo>
                  <a:pt x="719709" y="16226"/>
                </a:lnTo>
                <a:lnTo>
                  <a:pt x="715599" y="28138"/>
                </a:lnTo>
                <a:lnTo>
                  <a:pt x="716318" y="39625"/>
                </a:lnTo>
                <a:lnTo>
                  <a:pt x="820125" y="111796"/>
                </a:lnTo>
                <a:lnTo>
                  <a:pt x="937387" y="111984"/>
                </a:lnTo>
                <a:lnTo>
                  <a:pt x="937387" y="175484"/>
                </a:lnTo>
                <a:lnTo>
                  <a:pt x="945750" y="175484"/>
                </a:lnTo>
                <a:lnTo>
                  <a:pt x="1000378" y="143734"/>
                </a:lnTo>
                <a:lnTo>
                  <a:pt x="763142" y="4923"/>
                </a:lnTo>
                <a:lnTo>
                  <a:pt x="751212" y="813"/>
                </a:lnTo>
                <a:close/>
              </a:path>
              <a:path w="1000760" h="286385">
                <a:moveTo>
                  <a:pt x="180426" y="110774"/>
                </a:moveTo>
                <a:lnTo>
                  <a:pt x="126020" y="142418"/>
                </a:lnTo>
                <a:lnTo>
                  <a:pt x="180470" y="174274"/>
                </a:lnTo>
                <a:lnTo>
                  <a:pt x="819836" y="175296"/>
                </a:lnTo>
                <a:lnTo>
                  <a:pt x="874440" y="143574"/>
                </a:lnTo>
                <a:lnTo>
                  <a:pt x="820125" y="111796"/>
                </a:lnTo>
                <a:lnTo>
                  <a:pt x="180426" y="110774"/>
                </a:lnTo>
                <a:close/>
              </a:path>
              <a:path w="1000760" h="286385">
                <a:moveTo>
                  <a:pt x="62991" y="110587"/>
                </a:moveTo>
                <a:lnTo>
                  <a:pt x="62991" y="174087"/>
                </a:lnTo>
                <a:lnTo>
                  <a:pt x="180470" y="174274"/>
                </a:lnTo>
                <a:lnTo>
                  <a:pt x="172769" y="169769"/>
                </a:lnTo>
                <a:lnTo>
                  <a:pt x="78994" y="169769"/>
                </a:lnTo>
                <a:lnTo>
                  <a:pt x="78994" y="114905"/>
                </a:lnTo>
                <a:lnTo>
                  <a:pt x="173324" y="114905"/>
                </a:lnTo>
                <a:lnTo>
                  <a:pt x="180426" y="110774"/>
                </a:lnTo>
                <a:lnTo>
                  <a:pt x="62991" y="110587"/>
                </a:lnTo>
                <a:close/>
              </a:path>
              <a:path w="1000760" h="286385">
                <a:moveTo>
                  <a:pt x="921385" y="116302"/>
                </a:moveTo>
                <a:lnTo>
                  <a:pt x="874440" y="143574"/>
                </a:lnTo>
                <a:lnTo>
                  <a:pt x="921385" y="171039"/>
                </a:lnTo>
                <a:lnTo>
                  <a:pt x="921385" y="116302"/>
                </a:lnTo>
                <a:close/>
              </a:path>
              <a:path w="1000760" h="286385">
                <a:moveTo>
                  <a:pt x="937387" y="116302"/>
                </a:moveTo>
                <a:lnTo>
                  <a:pt x="921385" y="116302"/>
                </a:lnTo>
                <a:lnTo>
                  <a:pt x="921385" y="171039"/>
                </a:lnTo>
                <a:lnTo>
                  <a:pt x="937387" y="171039"/>
                </a:lnTo>
                <a:lnTo>
                  <a:pt x="937387" y="116302"/>
                </a:lnTo>
                <a:close/>
              </a:path>
              <a:path w="1000760" h="286385">
                <a:moveTo>
                  <a:pt x="78994" y="114905"/>
                </a:moveTo>
                <a:lnTo>
                  <a:pt x="78994" y="169769"/>
                </a:lnTo>
                <a:lnTo>
                  <a:pt x="126020" y="142418"/>
                </a:lnTo>
                <a:lnTo>
                  <a:pt x="78994" y="114905"/>
                </a:lnTo>
                <a:close/>
              </a:path>
              <a:path w="1000760" h="286385">
                <a:moveTo>
                  <a:pt x="126020" y="142418"/>
                </a:moveTo>
                <a:lnTo>
                  <a:pt x="78994" y="169769"/>
                </a:lnTo>
                <a:lnTo>
                  <a:pt x="172769" y="169769"/>
                </a:lnTo>
                <a:lnTo>
                  <a:pt x="126020" y="142418"/>
                </a:lnTo>
                <a:close/>
              </a:path>
              <a:path w="1000760" h="286385">
                <a:moveTo>
                  <a:pt x="820125" y="111796"/>
                </a:moveTo>
                <a:lnTo>
                  <a:pt x="874440" y="143574"/>
                </a:lnTo>
                <a:lnTo>
                  <a:pt x="921385" y="116302"/>
                </a:lnTo>
                <a:lnTo>
                  <a:pt x="937387" y="116302"/>
                </a:lnTo>
                <a:lnTo>
                  <a:pt x="937387" y="111984"/>
                </a:lnTo>
                <a:lnTo>
                  <a:pt x="820125" y="111796"/>
                </a:lnTo>
                <a:close/>
              </a:path>
              <a:path w="1000760" h="286385">
                <a:moveTo>
                  <a:pt x="173324" y="114905"/>
                </a:moveTo>
                <a:lnTo>
                  <a:pt x="78994" y="114905"/>
                </a:lnTo>
                <a:lnTo>
                  <a:pt x="126020" y="142418"/>
                </a:lnTo>
                <a:lnTo>
                  <a:pt x="173324" y="114905"/>
                </a:lnTo>
                <a:close/>
              </a:path>
              <a:path w="1000760" h="286385">
                <a:moveTo>
                  <a:pt x="180749" y="110587"/>
                </a:moveTo>
                <a:lnTo>
                  <a:pt x="62991" y="110587"/>
                </a:lnTo>
                <a:lnTo>
                  <a:pt x="180426" y="110774"/>
                </a:lnTo>
                <a:lnTo>
                  <a:pt x="180749" y="110587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4620" y="1714500"/>
            <a:ext cx="3525520" cy="264414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047239"/>
            <a:ext cx="3261360" cy="19050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06070" y="4800854"/>
            <a:ext cx="854392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38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Black"/>
                <a:cs typeface="Arial Black"/>
              </a:rPr>
              <a:t>La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calidad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del agua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en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el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sistema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afecta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tanto</a:t>
            </a:r>
            <a:r>
              <a:rPr dirty="0" sz="2400" spc="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 spc="-25">
                <a:latin typeface="Arial Black"/>
                <a:cs typeface="Arial Black"/>
              </a:rPr>
              <a:t>la </a:t>
            </a:r>
            <a:r>
              <a:rPr dirty="0" sz="2400">
                <a:latin typeface="Arial Black"/>
                <a:cs typeface="Arial Black"/>
              </a:rPr>
              <a:t>especie</a:t>
            </a:r>
            <a:r>
              <a:rPr dirty="0" sz="2400" spc="-3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objetivo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como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la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actividad bacteriana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 spc="-25">
                <a:latin typeface="Arial Black"/>
                <a:cs typeface="Arial Black"/>
              </a:rPr>
              <a:t>en </a:t>
            </a:r>
            <a:r>
              <a:rPr dirty="0" sz="2400">
                <a:latin typeface="Arial Black"/>
                <a:cs typeface="Arial Black"/>
              </a:rPr>
              <a:t>los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Biofiltros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30420" cy="6858000"/>
            <a:chOff x="0" y="0"/>
            <a:chExt cx="463042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4630420" cy="6858000"/>
            </a:xfrm>
            <a:custGeom>
              <a:avLst/>
              <a:gdLst/>
              <a:ahLst/>
              <a:cxnLst/>
              <a:rect l="l" t="t" r="r" b="b"/>
              <a:pathLst>
                <a:path w="4630420" h="6858000">
                  <a:moveTo>
                    <a:pt x="457860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074037" y="6857999"/>
                  </a:lnTo>
                  <a:lnTo>
                    <a:pt x="2172843" y="6782205"/>
                  </a:lnTo>
                  <a:lnTo>
                    <a:pt x="2205995" y="6755122"/>
                  </a:lnTo>
                  <a:lnTo>
                    <a:pt x="2238981" y="6727713"/>
                  </a:lnTo>
                  <a:lnTo>
                    <a:pt x="2271798" y="6699980"/>
                  </a:lnTo>
                  <a:lnTo>
                    <a:pt x="2304445" y="6671924"/>
                  </a:lnTo>
                  <a:lnTo>
                    <a:pt x="2336921" y="6643546"/>
                  </a:lnTo>
                  <a:lnTo>
                    <a:pt x="2369225" y="6614850"/>
                  </a:lnTo>
                  <a:lnTo>
                    <a:pt x="2401355" y="6585836"/>
                  </a:lnTo>
                  <a:lnTo>
                    <a:pt x="2433310" y="6556506"/>
                  </a:lnTo>
                  <a:lnTo>
                    <a:pt x="2465090" y="6526861"/>
                  </a:lnTo>
                  <a:lnTo>
                    <a:pt x="2496692" y="6496904"/>
                  </a:lnTo>
                  <a:lnTo>
                    <a:pt x="2528115" y="6466636"/>
                  </a:lnTo>
                  <a:lnTo>
                    <a:pt x="2559359" y="6436058"/>
                  </a:lnTo>
                  <a:lnTo>
                    <a:pt x="2590421" y="6405173"/>
                  </a:lnTo>
                  <a:lnTo>
                    <a:pt x="2621301" y="6373983"/>
                  </a:lnTo>
                  <a:lnTo>
                    <a:pt x="2651998" y="6342487"/>
                  </a:lnTo>
                  <a:lnTo>
                    <a:pt x="2682509" y="6310690"/>
                  </a:lnTo>
                  <a:lnTo>
                    <a:pt x="2712834" y="6278591"/>
                  </a:lnTo>
                  <a:lnTo>
                    <a:pt x="2742972" y="6246194"/>
                  </a:lnTo>
                  <a:lnTo>
                    <a:pt x="2772922" y="6213498"/>
                  </a:lnTo>
                  <a:lnTo>
                    <a:pt x="2802681" y="6180507"/>
                  </a:lnTo>
                  <a:lnTo>
                    <a:pt x="2832249" y="6147222"/>
                  </a:lnTo>
                  <a:lnTo>
                    <a:pt x="2861624" y="6113645"/>
                  </a:lnTo>
                  <a:lnTo>
                    <a:pt x="2890806" y="6079777"/>
                  </a:lnTo>
                  <a:lnTo>
                    <a:pt x="2919793" y="6045619"/>
                  </a:lnTo>
                  <a:lnTo>
                    <a:pt x="2948584" y="6011174"/>
                  </a:lnTo>
                  <a:lnTo>
                    <a:pt x="2977177" y="5976444"/>
                  </a:lnTo>
                  <a:lnTo>
                    <a:pt x="3005571" y="5941429"/>
                  </a:lnTo>
                  <a:lnTo>
                    <a:pt x="3033765" y="5906133"/>
                  </a:lnTo>
                  <a:lnTo>
                    <a:pt x="3061758" y="5870555"/>
                  </a:lnTo>
                  <a:lnTo>
                    <a:pt x="3089548" y="5834699"/>
                  </a:lnTo>
                  <a:lnTo>
                    <a:pt x="3117135" y="5798565"/>
                  </a:lnTo>
                  <a:lnTo>
                    <a:pt x="3144516" y="5762155"/>
                  </a:lnTo>
                  <a:lnTo>
                    <a:pt x="3171691" y="5725472"/>
                  </a:lnTo>
                  <a:lnTo>
                    <a:pt x="3198659" y="5688517"/>
                  </a:lnTo>
                  <a:lnTo>
                    <a:pt x="3225417" y="5651290"/>
                  </a:lnTo>
                  <a:lnTo>
                    <a:pt x="3251966" y="5613795"/>
                  </a:lnTo>
                  <a:lnTo>
                    <a:pt x="3278303" y="5576033"/>
                  </a:lnTo>
                  <a:lnTo>
                    <a:pt x="3304427" y="5538005"/>
                  </a:lnTo>
                  <a:lnTo>
                    <a:pt x="3330337" y="5499714"/>
                  </a:lnTo>
                  <a:lnTo>
                    <a:pt x="3356033" y="5461160"/>
                  </a:lnTo>
                  <a:lnTo>
                    <a:pt x="3381511" y="5422346"/>
                  </a:lnTo>
                  <a:lnTo>
                    <a:pt x="3406772" y="5383273"/>
                  </a:lnTo>
                  <a:lnTo>
                    <a:pt x="3431814" y="5343943"/>
                  </a:lnTo>
                  <a:lnTo>
                    <a:pt x="3456636" y="5304358"/>
                  </a:lnTo>
                  <a:lnTo>
                    <a:pt x="3481236" y="5264518"/>
                  </a:lnTo>
                  <a:lnTo>
                    <a:pt x="3505614" y="5224427"/>
                  </a:lnTo>
                  <a:lnTo>
                    <a:pt x="3529768" y="5184086"/>
                  </a:lnTo>
                  <a:lnTo>
                    <a:pt x="3553696" y="5143495"/>
                  </a:lnTo>
                  <a:lnTo>
                    <a:pt x="3577397" y="5102658"/>
                  </a:lnTo>
                  <a:lnTo>
                    <a:pt x="3600871" y="5061576"/>
                  </a:lnTo>
                  <a:lnTo>
                    <a:pt x="3624116" y="5020249"/>
                  </a:lnTo>
                  <a:lnTo>
                    <a:pt x="3647131" y="4978681"/>
                  </a:lnTo>
                  <a:lnTo>
                    <a:pt x="3669913" y="4936873"/>
                  </a:lnTo>
                  <a:lnTo>
                    <a:pt x="3692463" y="4894826"/>
                  </a:lnTo>
                  <a:lnTo>
                    <a:pt x="3714779" y="4852542"/>
                  </a:lnTo>
                  <a:lnTo>
                    <a:pt x="3736860" y="4810023"/>
                  </a:lnTo>
                  <a:lnTo>
                    <a:pt x="3758704" y="4767270"/>
                  </a:lnTo>
                  <a:lnTo>
                    <a:pt x="3780310" y="4724285"/>
                  </a:lnTo>
                  <a:lnTo>
                    <a:pt x="3801676" y="4681071"/>
                  </a:lnTo>
                  <a:lnTo>
                    <a:pt x="3822803" y="4637628"/>
                  </a:lnTo>
                  <a:lnTo>
                    <a:pt x="3843688" y="4593958"/>
                  </a:lnTo>
                  <a:lnTo>
                    <a:pt x="3864329" y="4550062"/>
                  </a:lnTo>
                  <a:lnTo>
                    <a:pt x="3884727" y="4505944"/>
                  </a:lnTo>
                  <a:lnTo>
                    <a:pt x="3904879" y="4461604"/>
                  </a:lnTo>
                  <a:lnTo>
                    <a:pt x="3924784" y="4417043"/>
                  </a:lnTo>
                  <a:lnTo>
                    <a:pt x="3944441" y="4372265"/>
                  </a:lnTo>
                  <a:lnTo>
                    <a:pt x="3963849" y="4327269"/>
                  </a:lnTo>
                  <a:lnTo>
                    <a:pt x="3983007" y="4282059"/>
                  </a:lnTo>
                  <a:lnTo>
                    <a:pt x="4001913" y="4236635"/>
                  </a:lnTo>
                  <a:lnTo>
                    <a:pt x="4020565" y="4190999"/>
                  </a:lnTo>
                  <a:lnTo>
                    <a:pt x="4038964" y="4145154"/>
                  </a:lnTo>
                  <a:lnTo>
                    <a:pt x="4057106" y="4099100"/>
                  </a:lnTo>
                  <a:lnTo>
                    <a:pt x="4074992" y="4052840"/>
                  </a:lnTo>
                  <a:lnTo>
                    <a:pt x="4092620" y="4006375"/>
                  </a:lnTo>
                  <a:lnTo>
                    <a:pt x="4109989" y="3959706"/>
                  </a:lnTo>
                  <a:lnTo>
                    <a:pt x="4127097" y="3912836"/>
                  </a:lnTo>
                  <a:lnTo>
                    <a:pt x="4143943" y="3865766"/>
                  </a:lnTo>
                  <a:lnTo>
                    <a:pt x="4160526" y="3818498"/>
                  </a:lnTo>
                  <a:lnTo>
                    <a:pt x="4176844" y="3771033"/>
                  </a:lnTo>
                  <a:lnTo>
                    <a:pt x="4192897" y="3723374"/>
                  </a:lnTo>
                  <a:lnTo>
                    <a:pt x="4208683" y="3675521"/>
                  </a:lnTo>
                  <a:lnTo>
                    <a:pt x="4224200" y="3627477"/>
                  </a:lnTo>
                  <a:lnTo>
                    <a:pt x="4239449" y="3579244"/>
                  </a:lnTo>
                  <a:lnTo>
                    <a:pt x="4254426" y="3530822"/>
                  </a:lnTo>
                  <a:lnTo>
                    <a:pt x="4269132" y="3482213"/>
                  </a:lnTo>
                  <a:lnTo>
                    <a:pt x="4283564" y="3433420"/>
                  </a:lnTo>
                  <a:lnTo>
                    <a:pt x="4297722" y="3384444"/>
                  </a:lnTo>
                  <a:lnTo>
                    <a:pt x="4311604" y="3335287"/>
                  </a:lnTo>
                  <a:lnTo>
                    <a:pt x="4325209" y="3285950"/>
                  </a:lnTo>
                  <a:lnTo>
                    <a:pt x="4338535" y="3236435"/>
                  </a:lnTo>
                  <a:lnTo>
                    <a:pt x="4351583" y="3186743"/>
                  </a:lnTo>
                  <a:lnTo>
                    <a:pt x="4364349" y="3136877"/>
                  </a:lnTo>
                  <a:lnTo>
                    <a:pt x="4376833" y="3086838"/>
                  </a:lnTo>
                  <a:lnTo>
                    <a:pt x="4389034" y="3036628"/>
                  </a:lnTo>
                  <a:lnTo>
                    <a:pt x="4400951" y="2986248"/>
                  </a:lnTo>
                  <a:lnTo>
                    <a:pt x="4412581" y="2935700"/>
                  </a:lnTo>
                  <a:lnTo>
                    <a:pt x="4423924" y="2884986"/>
                  </a:lnTo>
                  <a:lnTo>
                    <a:pt x="4434979" y="2834108"/>
                  </a:lnTo>
                  <a:lnTo>
                    <a:pt x="4445745" y="2783067"/>
                  </a:lnTo>
                  <a:lnTo>
                    <a:pt x="4456219" y="2731864"/>
                  </a:lnTo>
                  <a:lnTo>
                    <a:pt x="4466402" y="2680502"/>
                  </a:lnTo>
                  <a:lnTo>
                    <a:pt x="4476290" y="2628983"/>
                  </a:lnTo>
                  <a:lnTo>
                    <a:pt x="4485885" y="2577307"/>
                  </a:lnTo>
                  <a:lnTo>
                    <a:pt x="4495183" y="2525476"/>
                  </a:lnTo>
                  <a:lnTo>
                    <a:pt x="4504184" y="2473493"/>
                  </a:lnTo>
                  <a:lnTo>
                    <a:pt x="4512886" y="2421359"/>
                  </a:lnTo>
                  <a:lnTo>
                    <a:pt x="4521289" y="2369076"/>
                  </a:lnTo>
                  <a:lnTo>
                    <a:pt x="4529391" y="2316645"/>
                  </a:lnTo>
                  <a:lnTo>
                    <a:pt x="4537190" y="2264067"/>
                  </a:lnTo>
                  <a:lnTo>
                    <a:pt x="4544686" y="2211346"/>
                  </a:lnTo>
                  <a:lnTo>
                    <a:pt x="4551878" y="2158482"/>
                  </a:lnTo>
                  <a:lnTo>
                    <a:pt x="4558763" y="2105477"/>
                  </a:lnTo>
                  <a:lnTo>
                    <a:pt x="4565341" y="2052332"/>
                  </a:lnTo>
                  <a:lnTo>
                    <a:pt x="4571610" y="1999050"/>
                  </a:lnTo>
                  <a:lnTo>
                    <a:pt x="4577569" y="1945632"/>
                  </a:lnTo>
                  <a:lnTo>
                    <a:pt x="4583218" y="1892080"/>
                  </a:lnTo>
                  <a:lnTo>
                    <a:pt x="4588554" y="1838395"/>
                  </a:lnTo>
                  <a:lnTo>
                    <a:pt x="4593576" y="1784580"/>
                  </a:lnTo>
                  <a:lnTo>
                    <a:pt x="4598284" y="1730635"/>
                  </a:lnTo>
                  <a:lnTo>
                    <a:pt x="4602675" y="1676563"/>
                  </a:lnTo>
                  <a:lnTo>
                    <a:pt x="4606749" y="1622365"/>
                  </a:lnTo>
                  <a:lnTo>
                    <a:pt x="4610504" y="1568042"/>
                  </a:lnTo>
                  <a:lnTo>
                    <a:pt x="4613940" y="1513598"/>
                  </a:lnTo>
                  <a:lnTo>
                    <a:pt x="4617054" y="1459032"/>
                  </a:lnTo>
                  <a:lnTo>
                    <a:pt x="4619846" y="1404348"/>
                  </a:lnTo>
                  <a:lnTo>
                    <a:pt x="4622314" y="1349546"/>
                  </a:lnTo>
                  <a:lnTo>
                    <a:pt x="4624457" y="1294628"/>
                  </a:lnTo>
                  <a:lnTo>
                    <a:pt x="4626274" y="1239597"/>
                  </a:lnTo>
                  <a:lnTo>
                    <a:pt x="4627763" y="1184453"/>
                  </a:lnTo>
                  <a:lnTo>
                    <a:pt x="4628923" y="1129198"/>
                  </a:lnTo>
                  <a:lnTo>
                    <a:pt x="4629754" y="1073834"/>
                  </a:lnTo>
                  <a:lnTo>
                    <a:pt x="4630253" y="1018363"/>
                  </a:lnTo>
                  <a:lnTo>
                    <a:pt x="4630420" y="962787"/>
                  </a:lnTo>
                  <a:lnTo>
                    <a:pt x="4630284" y="912510"/>
                  </a:lnTo>
                  <a:lnTo>
                    <a:pt x="4629876" y="862320"/>
                  </a:lnTo>
                  <a:lnTo>
                    <a:pt x="4629198" y="812217"/>
                  </a:lnTo>
                  <a:lnTo>
                    <a:pt x="4628249" y="762203"/>
                  </a:lnTo>
                  <a:lnTo>
                    <a:pt x="4627030" y="712277"/>
                  </a:lnTo>
                  <a:lnTo>
                    <a:pt x="4625541" y="662441"/>
                  </a:lnTo>
                  <a:lnTo>
                    <a:pt x="4623784" y="612695"/>
                  </a:lnTo>
                  <a:lnTo>
                    <a:pt x="4621759" y="563041"/>
                  </a:lnTo>
                  <a:lnTo>
                    <a:pt x="4619466" y="513479"/>
                  </a:lnTo>
                  <a:lnTo>
                    <a:pt x="4616905" y="464010"/>
                  </a:lnTo>
                  <a:lnTo>
                    <a:pt x="4614078" y="414635"/>
                  </a:lnTo>
                  <a:lnTo>
                    <a:pt x="4610986" y="365354"/>
                  </a:lnTo>
                  <a:lnTo>
                    <a:pt x="4607627" y="316169"/>
                  </a:lnTo>
                  <a:lnTo>
                    <a:pt x="4604004" y="267080"/>
                  </a:lnTo>
                  <a:lnTo>
                    <a:pt x="4578604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518660" cy="6858000"/>
            </a:xfrm>
            <a:custGeom>
              <a:avLst/>
              <a:gdLst/>
              <a:ahLst/>
              <a:cxnLst/>
              <a:rect l="l" t="t" r="r" b="b"/>
              <a:pathLst>
                <a:path w="4518660" h="6858000">
                  <a:moveTo>
                    <a:pt x="446582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827911" y="6857999"/>
                  </a:lnTo>
                  <a:lnTo>
                    <a:pt x="1912620" y="6800151"/>
                  </a:lnTo>
                  <a:lnTo>
                    <a:pt x="1947033" y="6774994"/>
                  </a:lnTo>
                  <a:lnTo>
                    <a:pt x="1981281" y="6749487"/>
                  </a:lnTo>
                  <a:lnTo>
                    <a:pt x="2015363" y="6723632"/>
                  </a:lnTo>
                  <a:lnTo>
                    <a:pt x="2049276" y="6697431"/>
                  </a:lnTo>
                  <a:lnTo>
                    <a:pt x="2083020" y="6670885"/>
                  </a:lnTo>
                  <a:lnTo>
                    <a:pt x="2116592" y="6643996"/>
                  </a:lnTo>
                  <a:lnTo>
                    <a:pt x="2149993" y="6616767"/>
                  </a:lnTo>
                  <a:lnTo>
                    <a:pt x="2183219" y="6589198"/>
                  </a:lnTo>
                  <a:lnTo>
                    <a:pt x="2216271" y="6561293"/>
                  </a:lnTo>
                  <a:lnTo>
                    <a:pt x="2249147" y="6533051"/>
                  </a:lnTo>
                  <a:lnTo>
                    <a:pt x="2281844" y="6504476"/>
                  </a:lnTo>
                  <a:lnTo>
                    <a:pt x="2314363" y="6475570"/>
                  </a:lnTo>
                  <a:lnTo>
                    <a:pt x="2346702" y="6446333"/>
                  </a:lnTo>
                  <a:lnTo>
                    <a:pt x="2378858" y="6416768"/>
                  </a:lnTo>
                  <a:lnTo>
                    <a:pt x="2410832" y="6386876"/>
                  </a:lnTo>
                  <a:lnTo>
                    <a:pt x="2442621" y="6356660"/>
                  </a:lnTo>
                  <a:lnTo>
                    <a:pt x="2474224" y="6326121"/>
                  </a:lnTo>
                  <a:lnTo>
                    <a:pt x="2505640" y="6295261"/>
                  </a:lnTo>
                  <a:lnTo>
                    <a:pt x="2536868" y="6264082"/>
                  </a:lnTo>
                  <a:lnTo>
                    <a:pt x="2567905" y="6232585"/>
                  </a:lnTo>
                  <a:lnTo>
                    <a:pt x="2598752" y="6200773"/>
                  </a:lnTo>
                  <a:lnTo>
                    <a:pt x="2629406" y="6168647"/>
                  </a:lnTo>
                  <a:lnTo>
                    <a:pt x="2659865" y="6136209"/>
                  </a:lnTo>
                  <a:lnTo>
                    <a:pt x="2690130" y="6103460"/>
                  </a:lnTo>
                  <a:lnTo>
                    <a:pt x="2720198" y="6070404"/>
                  </a:lnTo>
                  <a:lnTo>
                    <a:pt x="2750068" y="6037040"/>
                  </a:lnTo>
                  <a:lnTo>
                    <a:pt x="2779739" y="6003372"/>
                  </a:lnTo>
                  <a:lnTo>
                    <a:pt x="2809209" y="5969401"/>
                  </a:lnTo>
                  <a:lnTo>
                    <a:pt x="2838477" y="5935129"/>
                  </a:lnTo>
                  <a:lnTo>
                    <a:pt x="2867541" y="5900557"/>
                  </a:lnTo>
                  <a:lnTo>
                    <a:pt x="2896401" y="5865688"/>
                  </a:lnTo>
                  <a:lnTo>
                    <a:pt x="2925055" y="5830523"/>
                  </a:lnTo>
                  <a:lnTo>
                    <a:pt x="2953501" y="5795064"/>
                  </a:lnTo>
                  <a:lnTo>
                    <a:pt x="2981738" y="5759313"/>
                  </a:lnTo>
                  <a:lnTo>
                    <a:pt x="3009766" y="5723272"/>
                  </a:lnTo>
                  <a:lnTo>
                    <a:pt x="3037581" y="5686942"/>
                  </a:lnTo>
                  <a:lnTo>
                    <a:pt x="3065184" y="5650325"/>
                  </a:lnTo>
                  <a:lnTo>
                    <a:pt x="3092573" y="5613423"/>
                  </a:lnTo>
                  <a:lnTo>
                    <a:pt x="3119745" y="5576239"/>
                  </a:lnTo>
                  <a:lnTo>
                    <a:pt x="3146701" y="5538773"/>
                  </a:lnTo>
                  <a:lnTo>
                    <a:pt x="3173439" y="5501027"/>
                  </a:lnTo>
                  <a:lnTo>
                    <a:pt x="3199957" y="5463004"/>
                  </a:lnTo>
                  <a:lnTo>
                    <a:pt x="3226254" y="5424705"/>
                  </a:lnTo>
                  <a:lnTo>
                    <a:pt x="3252329" y="5386131"/>
                  </a:lnTo>
                  <a:lnTo>
                    <a:pt x="3278180" y="5347286"/>
                  </a:lnTo>
                  <a:lnTo>
                    <a:pt x="3303806" y="5308169"/>
                  </a:lnTo>
                  <a:lnTo>
                    <a:pt x="3329205" y="5268785"/>
                  </a:lnTo>
                  <a:lnTo>
                    <a:pt x="3354377" y="5229133"/>
                  </a:lnTo>
                  <a:lnTo>
                    <a:pt x="3379320" y="5189216"/>
                  </a:lnTo>
                  <a:lnTo>
                    <a:pt x="3404032" y="5149036"/>
                  </a:lnTo>
                  <a:lnTo>
                    <a:pt x="3428512" y="5108595"/>
                  </a:lnTo>
                  <a:lnTo>
                    <a:pt x="3452759" y="5067894"/>
                  </a:lnTo>
                  <a:lnTo>
                    <a:pt x="3476772" y="5026935"/>
                  </a:lnTo>
                  <a:lnTo>
                    <a:pt x="3500548" y="4985719"/>
                  </a:lnTo>
                  <a:lnTo>
                    <a:pt x="3524088" y="4944250"/>
                  </a:lnTo>
                  <a:lnTo>
                    <a:pt x="3547388" y="4902528"/>
                  </a:lnTo>
                  <a:lnTo>
                    <a:pt x="3570449" y="4860556"/>
                  </a:lnTo>
                  <a:lnTo>
                    <a:pt x="3593269" y="4818335"/>
                  </a:lnTo>
                  <a:lnTo>
                    <a:pt x="3615846" y="4775866"/>
                  </a:lnTo>
                  <a:lnTo>
                    <a:pt x="3638178" y="4733153"/>
                  </a:lnTo>
                  <a:lnTo>
                    <a:pt x="3660266" y="4690196"/>
                  </a:lnTo>
                  <a:lnTo>
                    <a:pt x="3682107" y="4646998"/>
                  </a:lnTo>
                  <a:lnTo>
                    <a:pt x="3703699" y="4603559"/>
                  </a:lnTo>
                  <a:lnTo>
                    <a:pt x="3725042" y="4559883"/>
                  </a:lnTo>
                  <a:lnTo>
                    <a:pt x="3746135" y="4515970"/>
                  </a:lnTo>
                  <a:lnTo>
                    <a:pt x="3766975" y="4471823"/>
                  </a:lnTo>
                  <a:lnTo>
                    <a:pt x="3787562" y="4427444"/>
                  </a:lnTo>
                  <a:lnTo>
                    <a:pt x="3807894" y="4382834"/>
                  </a:lnTo>
                  <a:lnTo>
                    <a:pt x="3827970" y="4337994"/>
                  </a:lnTo>
                  <a:lnTo>
                    <a:pt x="3847788" y="4292928"/>
                  </a:lnTo>
                  <a:lnTo>
                    <a:pt x="3867347" y="4247636"/>
                  </a:lnTo>
                  <a:lnTo>
                    <a:pt x="3886646" y="4202121"/>
                  </a:lnTo>
                  <a:lnTo>
                    <a:pt x="3905683" y="4156384"/>
                  </a:lnTo>
                  <a:lnTo>
                    <a:pt x="3924458" y="4110426"/>
                  </a:lnTo>
                  <a:lnTo>
                    <a:pt x="3942968" y="4064251"/>
                  </a:lnTo>
                  <a:lnTo>
                    <a:pt x="3961212" y="4017860"/>
                  </a:lnTo>
                  <a:lnTo>
                    <a:pt x="3979190" y="3971254"/>
                  </a:lnTo>
                  <a:lnTo>
                    <a:pt x="3996899" y="3924435"/>
                  </a:lnTo>
                  <a:lnTo>
                    <a:pt x="4014338" y="3877405"/>
                  </a:lnTo>
                  <a:lnTo>
                    <a:pt x="4031506" y="3830166"/>
                  </a:lnTo>
                  <a:lnTo>
                    <a:pt x="4048402" y="3782720"/>
                  </a:lnTo>
                  <a:lnTo>
                    <a:pt x="4065024" y="3735068"/>
                  </a:lnTo>
                  <a:lnTo>
                    <a:pt x="4081371" y="3687212"/>
                  </a:lnTo>
                  <a:lnTo>
                    <a:pt x="4097441" y="3639155"/>
                  </a:lnTo>
                  <a:lnTo>
                    <a:pt x="4113233" y="3590898"/>
                  </a:lnTo>
                  <a:lnTo>
                    <a:pt x="4128746" y="3542442"/>
                  </a:lnTo>
                  <a:lnTo>
                    <a:pt x="4143979" y="3493790"/>
                  </a:lnTo>
                  <a:lnTo>
                    <a:pt x="4158930" y="3444943"/>
                  </a:lnTo>
                  <a:lnTo>
                    <a:pt x="4173597" y="3395903"/>
                  </a:lnTo>
                  <a:lnTo>
                    <a:pt x="4187980" y="3346672"/>
                  </a:lnTo>
                  <a:lnTo>
                    <a:pt x="4202076" y="3297252"/>
                  </a:lnTo>
                  <a:lnTo>
                    <a:pt x="4215886" y="3247644"/>
                  </a:lnTo>
                  <a:lnTo>
                    <a:pt x="4229407" y="3197851"/>
                  </a:lnTo>
                  <a:lnTo>
                    <a:pt x="4242637" y="3147874"/>
                  </a:lnTo>
                  <a:lnTo>
                    <a:pt x="4255577" y="3097715"/>
                  </a:lnTo>
                  <a:lnTo>
                    <a:pt x="4268223" y="3047375"/>
                  </a:lnTo>
                  <a:lnTo>
                    <a:pt x="4280576" y="2996857"/>
                  </a:lnTo>
                  <a:lnTo>
                    <a:pt x="4292633" y="2946163"/>
                  </a:lnTo>
                  <a:lnTo>
                    <a:pt x="4304393" y="2895293"/>
                  </a:lnTo>
                  <a:lnTo>
                    <a:pt x="4315855" y="2844251"/>
                  </a:lnTo>
                  <a:lnTo>
                    <a:pt x="4327017" y="2793037"/>
                  </a:lnTo>
                  <a:lnTo>
                    <a:pt x="4337879" y="2741654"/>
                  </a:lnTo>
                  <a:lnTo>
                    <a:pt x="4348438" y="2690104"/>
                  </a:lnTo>
                  <a:lnTo>
                    <a:pt x="4358694" y="2638387"/>
                  </a:lnTo>
                  <a:lnTo>
                    <a:pt x="4368645" y="2586507"/>
                  </a:lnTo>
                  <a:lnTo>
                    <a:pt x="4378289" y="2534464"/>
                  </a:lnTo>
                  <a:lnTo>
                    <a:pt x="4387626" y="2482261"/>
                  </a:lnTo>
                  <a:lnTo>
                    <a:pt x="4396654" y="2429900"/>
                  </a:lnTo>
                  <a:lnTo>
                    <a:pt x="4405372" y="2377381"/>
                  </a:lnTo>
                  <a:lnTo>
                    <a:pt x="4413778" y="2324708"/>
                  </a:lnTo>
                  <a:lnTo>
                    <a:pt x="4421870" y="2271881"/>
                  </a:lnTo>
                  <a:lnTo>
                    <a:pt x="4429649" y="2218904"/>
                  </a:lnTo>
                  <a:lnTo>
                    <a:pt x="4437111" y="2165776"/>
                  </a:lnTo>
                  <a:lnTo>
                    <a:pt x="4444257" y="2112501"/>
                  </a:lnTo>
                  <a:lnTo>
                    <a:pt x="4451084" y="2059080"/>
                  </a:lnTo>
                  <a:lnTo>
                    <a:pt x="4457591" y="2005514"/>
                  </a:lnTo>
                  <a:lnTo>
                    <a:pt x="4463777" y="1951807"/>
                  </a:lnTo>
                  <a:lnTo>
                    <a:pt x="4469640" y="1897959"/>
                  </a:lnTo>
                  <a:lnTo>
                    <a:pt x="4475180" y="1843972"/>
                  </a:lnTo>
                  <a:lnTo>
                    <a:pt x="4480394" y="1789848"/>
                  </a:lnTo>
                  <a:lnTo>
                    <a:pt x="4485282" y="1735589"/>
                  </a:lnTo>
                  <a:lnTo>
                    <a:pt x="4489842" y="1681197"/>
                  </a:lnTo>
                  <a:lnTo>
                    <a:pt x="4494072" y="1626673"/>
                  </a:lnTo>
                  <a:lnTo>
                    <a:pt x="4497972" y="1572019"/>
                  </a:lnTo>
                  <a:lnTo>
                    <a:pt x="4501540" y="1517238"/>
                  </a:lnTo>
                  <a:lnTo>
                    <a:pt x="4504774" y="1462330"/>
                  </a:lnTo>
                  <a:lnTo>
                    <a:pt x="4507674" y="1407299"/>
                  </a:lnTo>
                  <a:lnTo>
                    <a:pt x="4510238" y="1352144"/>
                  </a:lnTo>
                  <a:lnTo>
                    <a:pt x="4512464" y="1296869"/>
                  </a:lnTo>
                  <a:lnTo>
                    <a:pt x="4514351" y="1241476"/>
                  </a:lnTo>
                  <a:lnTo>
                    <a:pt x="4515899" y="1185965"/>
                  </a:lnTo>
                  <a:lnTo>
                    <a:pt x="4517105" y="1130339"/>
                  </a:lnTo>
                  <a:lnTo>
                    <a:pt x="4517967" y="1074599"/>
                  </a:lnTo>
                  <a:lnTo>
                    <a:pt x="4518486" y="1018748"/>
                  </a:lnTo>
                  <a:lnTo>
                    <a:pt x="4518660" y="962787"/>
                  </a:lnTo>
                  <a:lnTo>
                    <a:pt x="4518504" y="909963"/>
                  </a:lnTo>
                  <a:lnTo>
                    <a:pt x="4518040" y="857236"/>
                  </a:lnTo>
                  <a:lnTo>
                    <a:pt x="4517267" y="804607"/>
                  </a:lnTo>
                  <a:lnTo>
                    <a:pt x="4516189" y="752078"/>
                  </a:lnTo>
                  <a:lnTo>
                    <a:pt x="4514807" y="699651"/>
                  </a:lnTo>
                  <a:lnTo>
                    <a:pt x="4513122" y="647327"/>
                  </a:lnTo>
                  <a:lnTo>
                    <a:pt x="4511136" y="595108"/>
                  </a:lnTo>
                  <a:lnTo>
                    <a:pt x="4508852" y="542996"/>
                  </a:lnTo>
                  <a:lnTo>
                    <a:pt x="4506270" y="490992"/>
                  </a:lnTo>
                  <a:lnTo>
                    <a:pt x="4503393" y="439099"/>
                  </a:lnTo>
                  <a:lnTo>
                    <a:pt x="4500222" y="387318"/>
                  </a:lnTo>
                  <a:lnTo>
                    <a:pt x="4496759" y="335650"/>
                  </a:lnTo>
                  <a:lnTo>
                    <a:pt x="4493006" y="284099"/>
                  </a:lnTo>
                  <a:lnTo>
                    <a:pt x="4465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59" y="2349500"/>
              <a:ext cx="3035300" cy="78993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00345" y="1863407"/>
            <a:ext cx="3239770" cy="950594"/>
          </a:xfrm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2700" marR="5080">
              <a:lnSpc>
                <a:spcPts val="3440"/>
              </a:lnSpc>
              <a:spcBef>
                <a:spcPts val="550"/>
              </a:spcBef>
            </a:pPr>
            <a:r>
              <a:rPr dirty="0" sz="3200" spc="-45" b="0">
                <a:solidFill>
                  <a:srgbClr val="FFFFFF"/>
                </a:solidFill>
                <a:latin typeface="Calibri Light"/>
                <a:cs typeface="Calibri Light"/>
              </a:rPr>
              <a:t>Factores</a:t>
            </a:r>
            <a:r>
              <a:rPr dirty="0" sz="3200" spc="-1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FFFFFF"/>
                </a:solidFill>
                <a:latin typeface="Calibri Light"/>
                <a:cs typeface="Calibri Light"/>
              </a:rPr>
              <a:t>influyentes </a:t>
            </a:r>
            <a:r>
              <a:rPr dirty="0" sz="3200" b="0">
                <a:solidFill>
                  <a:srgbClr val="FFFFFF"/>
                </a:solidFill>
                <a:latin typeface="Calibri Light"/>
                <a:cs typeface="Calibri Light"/>
              </a:rPr>
              <a:t>en</a:t>
            </a:r>
            <a:r>
              <a:rPr dirty="0" sz="32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dirty="0" sz="3200" spc="-9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FFFFFF"/>
                </a:solidFill>
                <a:latin typeface="Calibri Light"/>
                <a:cs typeface="Calibri Light"/>
              </a:rPr>
              <a:t>nitrificación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16626" y="3453193"/>
            <a:ext cx="2268855" cy="1896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ts val="305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700" spc="-10">
                <a:solidFill>
                  <a:srgbClr val="FFFFFF"/>
                </a:solidFill>
                <a:latin typeface="Calibri Light"/>
                <a:cs typeface="Calibri Light"/>
              </a:rPr>
              <a:t>Temperatura</a:t>
            </a:r>
            <a:endParaRPr sz="2700">
              <a:latin typeface="Calibri Light"/>
              <a:cs typeface="Calibri Light"/>
            </a:endParaRPr>
          </a:p>
          <a:p>
            <a:pPr marL="469265" indent="-456565">
              <a:lnSpc>
                <a:spcPts val="287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700" spc="-10">
                <a:solidFill>
                  <a:srgbClr val="FFFFFF"/>
                </a:solidFill>
                <a:latin typeface="Calibri Light"/>
                <a:cs typeface="Calibri Light"/>
              </a:rPr>
              <a:t>Oxígeno</a:t>
            </a:r>
            <a:endParaRPr sz="2700">
              <a:latin typeface="Calibri Light"/>
              <a:cs typeface="Calibri Light"/>
            </a:endParaRPr>
          </a:p>
          <a:p>
            <a:pPr marL="469265" indent="-456565">
              <a:lnSpc>
                <a:spcPts val="287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700" spc="-25">
                <a:solidFill>
                  <a:srgbClr val="FFFFFF"/>
                </a:solidFill>
                <a:latin typeface="Calibri Light"/>
                <a:cs typeface="Calibri Light"/>
              </a:rPr>
              <a:t>pH</a:t>
            </a:r>
            <a:endParaRPr sz="2700">
              <a:latin typeface="Calibri Light"/>
              <a:cs typeface="Calibri Light"/>
            </a:endParaRPr>
          </a:p>
          <a:p>
            <a:pPr marL="469265" indent="-456565">
              <a:lnSpc>
                <a:spcPts val="287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700" spc="-10">
                <a:solidFill>
                  <a:srgbClr val="FFFFFF"/>
                </a:solidFill>
                <a:latin typeface="Calibri Light"/>
                <a:cs typeface="Calibri Light"/>
              </a:rPr>
              <a:t>Alcalinidad</a:t>
            </a:r>
            <a:endParaRPr sz="2700">
              <a:latin typeface="Calibri Light"/>
              <a:cs typeface="Calibri Light"/>
            </a:endParaRPr>
          </a:p>
          <a:p>
            <a:pPr marL="469265" indent="-456565">
              <a:lnSpc>
                <a:spcPts val="306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700" spc="-25">
                <a:solidFill>
                  <a:srgbClr val="FFFFFF"/>
                </a:solidFill>
                <a:latin typeface="Calibri Light"/>
                <a:cs typeface="Calibri Light"/>
              </a:rPr>
              <a:t>Alimentación</a:t>
            </a:r>
            <a:endParaRPr sz="27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 spc="-20"/>
              <a:t>Temperatura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8043" y="1714500"/>
            <a:ext cx="4670791" cy="31962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93052" y="5178297"/>
            <a:ext cx="8488045" cy="112395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1185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Efecto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Temperatura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sobe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tasa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Nitrificación.</a:t>
            </a:r>
            <a:endParaRPr sz="1800">
              <a:latin typeface="Arial MT"/>
              <a:cs typeface="Arial MT"/>
            </a:endParaRPr>
          </a:p>
          <a:p>
            <a:pPr marL="12700" marR="5080" indent="141605">
              <a:lnSpc>
                <a:spcPct val="100000"/>
              </a:lnSpc>
              <a:spcBef>
                <a:spcPts val="108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Si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bien</a:t>
            </a:r>
            <a:r>
              <a:rPr dirty="0" sz="1800" spc="3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3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mayor</a:t>
            </a:r>
            <a:r>
              <a:rPr dirty="0" sz="1800" spc="3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temperatura</a:t>
            </a:r>
            <a:r>
              <a:rPr dirty="0" sz="1800" spc="3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mayor</a:t>
            </a:r>
            <a:r>
              <a:rPr dirty="0" sz="1800" spc="3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3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3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tasa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3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nitrificación,</a:t>
            </a:r>
            <a:r>
              <a:rPr dirty="0" sz="1800" spc="3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3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temperatura </a:t>
            </a:r>
            <a:r>
              <a:rPr dirty="0" sz="1800">
                <a:latin typeface="Arial MT"/>
                <a:cs typeface="Arial MT"/>
              </a:rPr>
              <a:t>máxima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cultivo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salmónidos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debería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superior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16ºC.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Oxígeno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7405" y="1592678"/>
            <a:ext cx="3936549" cy="21888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93052" y="4249356"/>
            <a:ext cx="5186045" cy="208470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consumo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oxígeno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biofiltro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depende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de:</a:t>
            </a:r>
            <a:endParaRPr sz="1800">
              <a:latin typeface="Arial MT"/>
              <a:cs typeface="Arial MT"/>
            </a:endParaRPr>
          </a:p>
          <a:p>
            <a:pPr marL="812800" indent="-342900">
              <a:lnSpc>
                <a:spcPct val="100000"/>
              </a:lnSpc>
              <a:spcBef>
                <a:spcPts val="1080"/>
              </a:spcBef>
              <a:buAutoNum type="arabicParenR"/>
              <a:tabLst>
                <a:tab pos="812800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carga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alimento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ingresado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</a:t>
            </a:r>
            <a:r>
              <a:rPr dirty="0" sz="1800" spc="-10">
                <a:latin typeface="Arial MT"/>
                <a:cs typeface="Arial MT"/>
              </a:rPr>
              <a:t> sistema.</a:t>
            </a:r>
            <a:endParaRPr sz="1800">
              <a:latin typeface="Arial MT"/>
              <a:cs typeface="Arial MT"/>
            </a:endParaRPr>
          </a:p>
          <a:p>
            <a:pPr marL="812800" indent="-342900">
              <a:lnSpc>
                <a:spcPct val="100000"/>
              </a:lnSpc>
              <a:spcBef>
                <a:spcPts val="1080"/>
              </a:spcBef>
              <a:buAutoNum type="arabicParenR"/>
              <a:tabLst>
                <a:tab pos="812800" algn="l"/>
              </a:tabLst>
            </a:pP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factor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conversión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alimenticia.</a:t>
            </a:r>
            <a:endParaRPr sz="1800">
              <a:latin typeface="Arial MT"/>
              <a:cs typeface="Arial MT"/>
            </a:endParaRPr>
          </a:p>
          <a:p>
            <a:pPr marL="812800" indent="-342900">
              <a:lnSpc>
                <a:spcPct val="100000"/>
              </a:lnSpc>
              <a:spcBef>
                <a:spcPts val="1085"/>
              </a:spcBef>
              <a:buAutoNum type="arabicParenR"/>
              <a:tabLst>
                <a:tab pos="812800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eficiencia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filtración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mecánica.</a:t>
            </a:r>
            <a:endParaRPr sz="1800">
              <a:latin typeface="Arial MT"/>
              <a:cs typeface="Arial MT"/>
            </a:endParaRPr>
          </a:p>
          <a:p>
            <a:pPr marL="812800" indent="-342900">
              <a:lnSpc>
                <a:spcPct val="100000"/>
              </a:lnSpc>
              <a:spcBef>
                <a:spcPts val="1080"/>
              </a:spcBef>
              <a:buAutoNum type="arabicParenR"/>
              <a:tabLst>
                <a:tab pos="812800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tasa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nitrificación.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Oxígeno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182" y="2134417"/>
            <a:ext cx="4025760" cy="281294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93052" y="1482725"/>
            <a:ext cx="83375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100"/>
              </a:spcBef>
              <a:buSzPct val="112500"/>
              <a:buChar char="•"/>
              <a:tabLst>
                <a:tab pos="154305" algn="l"/>
              </a:tabLst>
            </a:pP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difusión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simple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constituye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único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mecanismo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transporte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hacia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interior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del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biofilm.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3052" y="5187315"/>
            <a:ext cx="8488045" cy="13722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350" indent="141605">
              <a:lnSpc>
                <a:spcPct val="101099"/>
              </a:lnSpc>
              <a:spcBef>
                <a:spcPts val="75"/>
              </a:spcBef>
              <a:buSzPct val="112500"/>
              <a:buChar char="•"/>
              <a:tabLst>
                <a:tab pos="154305" algn="l"/>
              </a:tabLst>
            </a:pP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2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entrada</a:t>
            </a:r>
            <a:r>
              <a:rPr dirty="0" sz="1600" spc="2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del</a:t>
            </a:r>
            <a:r>
              <a:rPr dirty="0" sz="1600" spc="2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biofiltro</a:t>
            </a:r>
            <a:r>
              <a:rPr dirty="0" sz="1600" spc="25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debe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mantener</a:t>
            </a:r>
            <a:r>
              <a:rPr dirty="0" sz="1600" spc="2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una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concentración</a:t>
            </a:r>
            <a:r>
              <a:rPr dirty="0" sz="1600" spc="2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mínima</a:t>
            </a:r>
            <a:r>
              <a:rPr dirty="0" sz="1600" spc="25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2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4mg/L,</a:t>
            </a:r>
            <a:r>
              <a:rPr dirty="0" sz="1600" spc="25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lo </a:t>
            </a:r>
            <a:r>
              <a:rPr dirty="0" sz="1600">
                <a:latin typeface="Arial MT"/>
                <a:cs typeface="Arial MT"/>
              </a:rPr>
              <a:t>contrario,</a:t>
            </a:r>
            <a:r>
              <a:rPr dirty="0" sz="1600" spc="2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3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eficiencia</a:t>
            </a:r>
            <a:r>
              <a:rPr dirty="0" sz="1600" spc="2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2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nitrificación</a:t>
            </a:r>
            <a:r>
              <a:rPr dirty="0" sz="1600" spc="2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caerá</a:t>
            </a:r>
            <a:r>
              <a:rPr dirty="0" sz="1600" spc="2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por</a:t>
            </a:r>
            <a:r>
              <a:rPr dirty="0" sz="1600" spc="3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lo</a:t>
            </a:r>
            <a:r>
              <a:rPr dirty="0" sz="1600" spc="3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30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será</a:t>
            </a:r>
            <a:r>
              <a:rPr dirty="0" sz="1600" spc="3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necesario</a:t>
            </a:r>
            <a:r>
              <a:rPr dirty="0" sz="1600" spc="3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agregar</a:t>
            </a:r>
            <a:r>
              <a:rPr dirty="0" sz="1600" spc="3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oxígeno</a:t>
            </a:r>
            <a:r>
              <a:rPr dirty="0" sz="1600" spc="32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y </a:t>
            </a:r>
            <a:r>
              <a:rPr dirty="0" sz="1600">
                <a:latin typeface="Arial MT"/>
                <a:cs typeface="Arial MT"/>
              </a:rPr>
              <a:t>reducir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carga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alimento.</a:t>
            </a:r>
            <a:endParaRPr sz="1600">
              <a:latin typeface="Arial MT"/>
              <a:cs typeface="Arial MT"/>
            </a:endParaRPr>
          </a:p>
          <a:p>
            <a:pPr algn="just" marL="140335" indent="-127635">
              <a:lnSpc>
                <a:spcPct val="100000"/>
              </a:lnSpc>
              <a:spcBef>
                <a:spcPts val="960"/>
              </a:spcBef>
              <a:buChar char="•"/>
              <a:tabLst>
                <a:tab pos="140335" algn="l"/>
              </a:tabLst>
            </a:pPr>
            <a:r>
              <a:rPr dirty="0" sz="1600">
                <a:latin typeface="Arial MT"/>
                <a:cs typeface="Arial MT"/>
              </a:rPr>
              <a:t>Se</a:t>
            </a:r>
            <a:r>
              <a:rPr dirty="0" sz="1600" spc="3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debe</a:t>
            </a:r>
            <a:r>
              <a:rPr dirty="0" sz="1600" spc="3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controlar</a:t>
            </a:r>
            <a:r>
              <a:rPr dirty="0" sz="1600" spc="4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el</a:t>
            </a:r>
            <a:r>
              <a:rPr dirty="0" sz="1600" spc="3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espesor</a:t>
            </a:r>
            <a:r>
              <a:rPr dirty="0" sz="1600" spc="3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del</a:t>
            </a:r>
            <a:r>
              <a:rPr dirty="0" sz="1600" spc="3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biofilm,</a:t>
            </a:r>
            <a:r>
              <a:rPr dirty="0" sz="1600" spc="3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evitando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aumento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excesivo,</a:t>
            </a:r>
            <a:r>
              <a:rPr dirty="0" sz="1600" spc="3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ya</a:t>
            </a:r>
            <a:r>
              <a:rPr dirty="0" sz="1600" spc="3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</a:t>
            </a:r>
            <a:r>
              <a:rPr dirty="0" sz="1600" spc="3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lo</a:t>
            </a:r>
            <a:endParaRPr sz="16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contrario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podrían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producirse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condiciones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anaeróbicas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capas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interiores.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25"/>
              <a:t>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951" y="1630713"/>
            <a:ext cx="3569565" cy="306657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93052" y="5173345"/>
            <a:ext cx="8488680" cy="126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1605">
              <a:lnSpc>
                <a:spcPct val="100000"/>
              </a:lnSpc>
              <a:spcBef>
                <a:spcPts val="10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actividad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bacteriana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MUY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sensible</a:t>
            </a:r>
            <a:r>
              <a:rPr dirty="0" sz="1800" spc="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cambios</a:t>
            </a:r>
            <a:r>
              <a:rPr dirty="0" sz="1800" spc="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fuertes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repentinos</a:t>
            </a:r>
            <a:r>
              <a:rPr dirty="0" sz="1800" spc="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</a:t>
            </a:r>
            <a:r>
              <a:rPr dirty="0" sz="1800" spc="10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“peaks”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pH, tanto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incremento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 </a:t>
            </a:r>
            <a:r>
              <a:rPr dirty="0" sz="1800" spc="-10">
                <a:latin typeface="Arial MT"/>
                <a:cs typeface="Arial MT"/>
              </a:rPr>
              <a:t>disminución.</a:t>
            </a:r>
            <a:endParaRPr sz="1800">
              <a:latin typeface="Arial MT"/>
              <a:cs typeface="Arial MT"/>
            </a:endParaRPr>
          </a:p>
          <a:p>
            <a:pPr marL="154305" indent="-141605">
              <a:lnSpc>
                <a:spcPct val="100000"/>
              </a:lnSpc>
              <a:spcBef>
                <a:spcPts val="108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Cambios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 pH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0,5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ó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puntos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pocos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minutos,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puede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afectar </a:t>
            </a:r>
            <a:r>
              <a:rPr dirty="0" sz="1800" spc="-10">
                <a:latin typeface="Arial MT"/>
                <a:cs typeface="Arial MT"/>
              </a:rPr>
              <a:t>fuertemente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actividad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biofiltro.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Alcalinidad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2607" y="1509776"/>
            <a:ext cx="8572500" cy="112331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2245" indent="-13144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182245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Factor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limitante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para</a:t>
            </a:r>
            <a:r>
              <a:rPr dirty="0" sz="1800" spc="-1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800" spc="-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nitrificación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valores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&lt;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45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mg/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CaCO3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(Biesterfeld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et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al.,</a:t>
            </a:r>
            <a:r>
              <a:rPr dirty="0" sz="1800" spc="-6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2003).</a:t>
            </a:r>
            <a:endParaRPr sz="1800">
              <a:latin typeface="Calibri"/>
              <a:cs typeface="Calibri"/>
            </a:endParaRPr>
          </a:p>
          <a:p>
            <a:pPr marL="337820" marR="55880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7.14</a:t>
            </a:r>
            <a:r>
              <a:rPr dirty="0" sz="18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g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alcalinidad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se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consumen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por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cada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gramo</a:t>
            </a:r>
            <a:r>
              <a:rPr dirty="0" sz="18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8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nitrógeno</a:t>
            </a:r>
            <a:r>
              <a:rPr dirty="0" sz="18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amoniacal</a:t>
            </a:r>
            <a:r>
              <a:rPr dirty="0" sz="1800" spc="-2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863"/>
                </a:solidFill>
                <a:latin typeface="Calibri"/>
                <a:cs typeface="Calibri"/>
              </a:rPr>
              <a:t>convertido</a:t>
            </a:r>
            <a:r>
              <a:rPr dirty="0" sz="18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1F3863"/>
                </a:solidFill>
                <a:latin typeface="Calibri"/>
                <a:cs typeface="Calibri"/>
              </a:rPr>
              <a:t>a 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nitrato-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nitrógeno</a:t>
            </a:r>
            <a:r>
              <a:rPr dirty="0" sz="18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(NO</a:t>
            </a:r>
            <a:r>
              <a:rPr dirty="0" baseline="-20833" sz="1800">
                <a:solidFill>
                  <a:srgbClr val="1F3863"/>
                </a:solidFill>
                <a:latin typeface="Calibri"/>
                <a:cs typeface="Calibri"/>
              </a:rPr>
              <a:t>3</a:t>
            </a:r>
            <a:r>
              <a:rPr dirty="0" sz="1800">
                <a:solidFill>
                  <a:srgbClr val="1F3863"/>
                </a:solidFill>
                <a:latin typeface="Calibri"/>
                <a:cs typeface="Calibri"/>
              </a:rPr>
              <a:t>-</a:t>
            </a:r>
            <a:r>
              <a:rPr dirty="0" sz="1800" spc="-25">
                <a:solidFill>
                  <a:srgbClr val="1F3863"/>
                </a:solidFill>
                <a:latin typeface="Calibri"/>
                <a:cs typeface="Calibri"/>
              </a:rPr>
              <a:t> N).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641" y="2805627"/>
            <a:ext cx="4633714" cy="28156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75714" y="5885815"/>
            <a:ext cx="6026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Relación</a:t>
            </a:r>
            <a:r>
              <a:rPr dirty="0" sz="14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entre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alcalinidad</a:t>
            </a:r>
            <a:r>
              <a:rPr dirty="0" sz="14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del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agua</a:t>
            </a:r>
            <a:r>
              <a:rPr dirty="0" sz="1400" spc="-4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y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la</a:t>
            </a:r>
            <a:r>
              <a:rPr dirty="0" sz="14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tasa</a:t>
            </a:r>
            <a:r>
              <a:rPr dirty="0" sz="14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de</a:t>
            </a:r>
            <a:r>
              <a:rPr dirty="0" sz="1400" spc="-4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nitrificación</a:t>
            </a:r>
            <a:r>
              <a:rPr dirty="0" sz="1400" spc="-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(Biesterfeld</a:t>
            </a:r>
            <a:r>
              <a:rPr dirty="0" sz="1400" spc="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el</a:t>
            </a:r>
            <a:r>
              <a:rPr dirty="0" sz="14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F3863"/>
                </a:solidFill>
                <a:latin typeface="Calibri"/>
                <a:cs typeface="Calibri"/>
              </a:rPr>
              <a:t>al.,</a:t>
            </a:r>
            <a:r>
              <a:rPr dirty="0" sz="1400" spc="-5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863"/>
                </a:solidFill>
                <a:latin typeface="Calibri"/>
                <a:cs typeface="Calibri"/>
              </a:rPr>
              <a:t>2003)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Alimentación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3052" y="1671573"/>
            <a:ext cx="8489950" cy="4627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4305" indent="-141605">
              <a:lnSpc>
                <a:spcPct val="100000"/>
              </a:lnSpc>
              <a:spcBef>
                <a:spcPts val="10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4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actividad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biofiltro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además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muy</a:t>
            </a:r>
            <a:r>
              <a:rPr dirty="0" sz="1800" spc="4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sensible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variaciones</a:t>
            </a:r>
            <a:r>
              <a:rPr dirty="0" sz="1800" spc="5">
                <a:latin typeface="Arial MT"/>
                <a:cs typeface="Arial MT"/>
              </a:rPr>
              <a:t> 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la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alimentación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-10">
                <a:latin typeface="Arial MT"/>
                <a:cs typeface="Arial MT"/>
              </a:rPr>
              <a:t> peces.</a:t>
            </a:r>
            <a:endParaRPr sz="1800">
              <a:latin typeface="Arial MT"/>
              <a:cs typeface="Arial MT"/>
            </a:endParaRPr>
          </a:p>
          <a:p>
            <a:pPr algn="just" marL="12700" marR="8255" indent="141605">
              <a:lnSpc>
                <a:spcPct val="100000"/>
              </a:lnSpc>
              <a:spcBef>
                <a:spcPts val="108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Se</a:t>
            </a:r>
            <a:r>
              <a:rPr dirty="0" sz="1800" spc="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debe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tener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mente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así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como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peces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requieren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diariamente</a:t>
            </a:r>
            <a:r>
              <a:rPr dirty="0" sz="1800" spc="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alimento, </a:t>
            </a:r>
            <a:r>
              <a:rPr dirty="0" sz="1800">
                <a:latin typeface="Arial MT"/>
                <a:cs typeface="Arial MT"/>
              </a:rPr>
              <a:t>las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bacterias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</a:t>
            </a:r>
            <a:r>
              <a:rPr dirty="0" sz="1800" spc="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vez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necesitan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sustrato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mantener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renovar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población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en </a:t>
            </a:r>
            <a:r>
              <a:rPr dirty="0" sz="1800">
                <a:latin typeface="Arial MT"/>
                <a:cs typeface="Arial MT"/>
              </a:rPr>
              <a:t>los </a:t>
            </a:r>
            <a:r>
              <a:rPr dirty="0" sz="1800" spc="-10">
                <a:latin typeface="Arial MT"/>
                <a:cs typeface="Arial MT"/>
              </a:rPr>
              <a:t>biofiltros.</a:t>
            </a:r>
            <a:endParaRPr sz="1800">
              <a:latin typeface="Arial MT"/>
              <a:cs typeface="Arial MT"/>
            </a:endParaRPr>
          </a:p>
          <a:p>
            <a:pPr algn="just" marL="154305" indent="-141605">
              <a:lnSpc>
                <a:spcPct val="100000"/>
              </a:lnSpc>
              <a:spcBef>
                <a:spcPts val="1085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Arial MT"/>
                <a:cs typeface="Arial MT"/>
              </a:rPr>
              <a:t>Cambios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fuertes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alimentación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peces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b="1" i="1">
                <a:latin typeface="Arial"/>
                <a:cs typeface="Arial"/>
              </a:rPr>
              <a:t>de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un</a:t>
            </a:r>
            <a:r>
              <a:rPr dirty="0" sz="1800" spc="-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día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para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otro</a:t>
            </a:r>
            <a:r>
              <a:rPr dirty="0" sz="1800" spc="-5" b="1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producto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manejos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como:</a:t>
            </a:r>
            <a:endParaRPr sz="1800">
              <a:latin typeface="Arial MT"/>
              <a:cs typeface="Arial MT"/>
            </a:endParaRPr>
          </a:p>
          <a:p>
            <a:pPr lvl="1" marL="1056005" indent="-128905">
              <a:lnSpc>
                <a:spcPct val="100000"/>
              </a:lnSpc>
              <a:spcBef>
                <a:spcPts val="1080"/>
              </a:spcBef>
              <a:buChar char="•"/>
              <a:tabLst>
                <a:tab pos="1056005" algn="l"/>
              </a:tabLst>
            </a:pPr>
            <a:r>
              <a:rPr dirty="0" sz="1800">
                <a:latin typeface="Arial MT"/>
                <a:cs typeface="Arial MT"/>
              </a:rPr>
              <a:t>Ayunos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selección,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vacunación,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traslados.</a:t>
            </a:r>
            <a:endParaRPr sz="1800">
              <a:latin typeface="Arial MT"/>
              <a:cs typeface="Arial MT"/>
            </a:endParaRPr>
          </a:p>
          <a:p>
            <a:pPr lvl="1" marL="1068705" indent="-141605">
              <a:lnSpc>
                <a:spcPct val="100000"/>
              </a:lnSpc>
              <a:spcBef>
                <a:spcPts val="1080"/>
              </a:spcBef>
              <a:buChar char="•"/>
              <a:tabLst>
                <a:tab pos="1068705" algn="l"/>
              </a:tabLst>
            </a:pPr>
            <a:r>
              <a:rPr dirty="0" sz="1800">
                <a:latin typeface="Arial MT"/>
                <a:cs typeface="Arial MT"/>
              </a:rPr>
              <a:t>Incrementos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cambio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calibre,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nuevos</a:t>
            </a:r>
            <a:r>
              <a:rPr dirty="0" sz="1800" spc="-10">
                <a:latin typeface="Arial MT"/>
                <a:cs typeface="Arial MT"/>
              </a:rPr>
              <a:t> ingresos.</a:t>
            </a:r>
            <a:endParaRPr sz="1800">
              <a:latin typeface="Arial MT"/>
              <a:cs typeface="Arial MT"/>
            </a:endParaRPr>
          </a:p>
          <a:p>
            <a:pPr lvl="1" marL="1068705" indent="-141605">
              <a:lnSpc>
                <a:spcPct val="100000"/>
              </a:lnSpc>
              <a:spcBef>
                <a:spcPts val="1085"/>
              </a:spcBef>
              <a:buChar char="•"/>
              <a:tabLst>
                <a:tab pos="1068705" algn="l"/>
              </a:tabLst>
            </a:pPr>
            <a:r>
              <a:rPr dirty="0" sz="1800">
                <a:latin typeface="Arial MT"/>
                <a:cs typeface="Arial MT"/>
              </a:rPr>
              <a:t>Disminución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traslado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peces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consiguiente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vaciado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estanques.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8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algn="just" marL="12700" marR="5080" indent="-12065">
              <a:lnSpc>
                <a:spcPct val="100000"/>
              </a:lnSpc>
              <a:buSzPct val="92500"/>
              <a:buChar char="•"/>
              <a:tabLst>
                <a:tab pos="100965" algn="l"/>
              </a:tabLst>
            </a:pPr>
            <a:r>
              <a:rPr dirty="0" sz="2000" spc="-25">
                <a:latin typeface="Arial MT"/>
                <a:cs typeface="Arial MT"/>
              </a:rPr>
              <a:t>	</a:t>
            </a:r>
            <a:r>
              <a:rPr dirty="0" sz="2000" spc="-25">
                <a:latin typeface="Arial MT"/>
                <a:cs typeface="Arial MT"/>
              </a:rPr>
              <a:t>Tendrán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b="1" i="1">
                <a:latin typeface="Arial"/>
                <a:cs typeface="Arial"/>
              </a:rPr>
              <a:t>repercusiones</a:t>
            </a:r>
            <a:r>
              <a:rPr dirty="0" sz="2000" spc="-30" b="1" i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en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niveles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Nitrito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partir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3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días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sub- </a:t>
            </a:r>
            <a:r>
              <a:rPr dirty="0" sz="2000">
                <a:latin typeface="Arial MT"/>
                <a:cs typeface="Arial MT"/>
              </a:rPr>
              <a:t>siguientes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manejo.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Alimentación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3519" y="1409054"/>
            <a:ext cx="5871210" cy="5253990"/>
            <a:chOff x="1493519" y="1409054"/>
            <a:chExt cx="5871210" cy="5253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09054"/>
              <a:ext cx="5871028" cy="525362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52319" y="5300979"/>
              <a:ext cx="5288280" cy="431800"/>
            </a:xfrm>
            <a:custGeom>
              <a:avLst/>
              <a:gdLst/>
              <a:ahLst/>
              <a:cxnLst/>
              <a:rect l="l" t="t" r="r" b="b"/>
              <a:pathLst>
                <a:path w="5288280" h="431800">
                  <a:moveTo>
                    <a:pt x="0" y="0"/>
                  </a:moveTo>
                  <a:lnTo>
                    <a:pt x="5287899" y="0"/>
                  </a:lnTo>
                </a:path>
                <a:path w="5288280" h="431800">
                  <a:moveTo>
                    <a:pt x="0" y="431800"/>
                  </a:moveTo>
                  <a:lnTo>
                    <a:pt x="5287899" y="431800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/>
              <a:t>Biofiltración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 spc="-10"/>
              <a:t>Alimentación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929" y="1452095"/>
            <a:ext cx="7209130" cy="51048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75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Biofiltration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3052" y="5137467"/>
            <a:ext cx="8486140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4305" indent="-14160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12500"/>
              <a:buFont typeface="Arial MT"/>
              <a:buChar char="•"/>
              <a:tabLst>
                <a:tab pos="154305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Los</a:t>
            </a:r>
            <a:r>
              <a:rPr dirty="0" sz="1600" spc="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biofiltros</a:t>
            </a:r>
            <a:r>
              <a:rPr dirty="0" sz="1600" spc="3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deben</a:t>
            </a:r>
            <a:r>
              <a:rPr dirty="0" sz="1600" spc="6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retrolavarse</a:t>
            </a:r>
            <a:r>
              <a:rPr dirty="0" sz="1600" spc="3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cada</a:t>
            </a:r>
            <a:r>
              <a:rPr dirty="0" sz="1600" spc="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dos</a:t>
            </a:r>
            <a:r>
              <a:rPr dirty="0" sz="1600" spc="4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semanas</a:t>
            </a:r>
            <a:r>
              <a:rPr dirty="0" sz="1600" spc="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por</a:t>
            </a:r>
            <a:r>
              <a:rPr dirty="0" sz="1600" spc="5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cada</a:t>
            </a:r>
            <a:r>
              <a:rPr dirty="0" sz="1600" spc="6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cámara.</a:t>
            </a:r>
            <a:r>
              <a:rPr dirty="0" sz="1600" spc="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Esto</a:t>
            </a:r>
            <a:r>
              <a:rPr dirty="0" sz="1600" spc="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</a:t>
            </a:r>
            <a:r>
              <a:rPr dirty="0" sz="1600" spc="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esencial</a:t>
            </a:r>
            <a:r>
              <a:rPr dirty="0" sz="1600" spc="4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para</a:t>
            </a:r>
            <a:r>
              <a:rPr dirty="0" sz="1600" spc="5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remover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las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bacterias</a:t>
            </a:r>
            <a:r>
              <a:rPr dirty="0" sz="1600" spc="-4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mas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antiguas</a:t>
            </a:r>
            <a:r>
              <a:rPr dirty="0" sz="1600" spc="-1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y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renovar</a:t>
            </a:r>
            <a:r>
              <a:rPr dirty="0" sz="1600" spc="-2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el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film</a:t>
            </a:r>
            <a:r>
              <a:rPr dirty="0" sz="1600" spc="-2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bacteriano.</a:t>
            </a:r>
            <a:endParaRPr sz="1600">
              <a:latin typeface="Calibri"/>
              <a:cs typeface="Calibri"/>
            </a:endParaRPr>
          </a:p>
          <a:p>
            <a:pPr algn="just" marL="12700" marR="5080" indent="146685">
              <a:lnSpc>
                <a:spcPct val="100000"/>
              </a:lnSpc>
              <a:spcBef>
                <a:spcPts val="960"/>
              </a:spcBef>
              <a:buChar char="•"/>
              <a:tabLst>
                <a:tab pos="159385" algn="l"/>
              </a:tabLst>
            </a:pP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Es</a:t>
            </a:r>
            <a:r>
              <a:rPr dirty="0" sz="1600" spc="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muy</a:t>
            </a:r>
            <a:r>
              <a:rPr dirty="0" sz="1600" spc="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importante</a:t>
            </a:r>
            <a:r>
              <a:rPr dirty="0" sz="1600" spc="9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considerar</a:t>
            </a:r>
            <a:r>
              <a:rPr dirty="0" sz="1600" spc="11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que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las</a:t>
            </a:r>
            <a:r>
              <a:rPr dirty="0" sz="1600" spc="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actividades</a:t>
            </a:r>
            <a:r>
              <a:rPr dirty="0" sz="1600" spc="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manejo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peces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deben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hacerse</a:t>
            </a:r>
            <a:r>
              <a:rPr dirty="0" sz="1600" spc="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teniendo</a:t>
            </a:r>
            <a:r>
              <a:rPr dirty="0" sz="1600" spc="9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en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cuenta</a:t>
            </a:r>
            <a:r>
              <a:rPr dirty="0" sz="1600" spc="3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la</a:t>
            </a:r>
            <a:r>
              <a:rPr dirty="0" sz="1600" spc="37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actividad</a:t>
            </a:r>
            <a:r>
              <a:rPr dirty="0" sz="1600" spc="3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bacteriana.</a:t>
            </a:r>
            <a:r>
              <a:rPr dirty="0" sz="1600" spc="3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Manejos</a:t>
            </a:r>
            <a:r>
              <a:rPr dirty="0" sz="1600" spc="3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que</a:t>
            </a:r>
            <a:r>
              <a:rPr dirty="0" sz="1600" spc="3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puedan</a:t>
            </a:r>
            <a:r>
              <a:rPr dirty="0" sz="1600" spc="3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poner</a:t>
            </a:r>
            <a:r>
              <a:rPr dirty="0" sz="1600" spc="3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en</a:t>
            </a:r>
            <a:r>
              <a:rPr dirty="0" sz="1600" spc="38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riesgo</a:t>
            </a:r>
            <a:r>
              <a:rPr dirty="0" sz="1600" spc="3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a</a:t>
            </a:r>
            <a:r>
              <a:rPr dirty="0" sz="1600" spc="38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los</a:t>
            </a:r>
            <a:r>
              <a:rPr dirty="0" sz="1600" spc="375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biofiltros</a:t>
            </a:r>
            <a:r>
              <a:rPr dirty="0" sz="1600" spc="40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1279"/>
                </a:solidFill>
                <a:latin typeface="Calibri"/>
                <a:cs typeface="Calibri"/>
              </a:rPr>
              <a:t>deben</a:t>
            </a:r>
            <a:r>
              <a:rPr dirty="0" sz="1600" spc="390">
                <a:solidFill>
                  <a:srgbClr val="00127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001279"/>
                </a:solidFill>
                <a:latin typeface="Calibri"/>
                <a:cs typeface="Calibri"/>
              </a:rPr>
              <a:t>ser </a:t>
            </a:r>
            <a:r>
              <a:rPr dirty="0" sz="1600" spc="-10">
                <a:solidFill>
                  <a:srgbClr val="001279"/>
                </a:solidFill>
                <a:latin typeface="Calibri"/>
                <a:cs typeface="Calibri"/>
              </a:rPr>
              <a:t>evitados.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439" y="904240"/>
            <a:ext cx="4897120" cy="3992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Esteban J.M. Emparanza</dc:creator>
  <dc:title>Training course 2</dc:title>
  <dcterms:created xsi:type="dcterms:W3CDTF">2025-02-17T00:59:24Z</dcterms:created>
  <dcterms:modified xsi:type="dcterms:W3CDTF">2025-02-17T00:59:24Z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2025-02-17T00:00:00Z</vt:filetime>
  </property>
  <property fmtid="{D5CDD505-2E9C-101B-9397-08002B2CF9AE}" pid="5" name="Producer">
    <vt:lpwstr>Microsoft® PowerPoint® para Microsoft 365</vt:lpwstr>
  </property>
</Properties>
</file>